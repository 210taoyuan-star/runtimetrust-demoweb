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4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0739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1430000" y="3840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kern="0" spc="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TRUST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66928" y="3401568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66928" y="340156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AI Governance Sidecar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0416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受監管產業的 AI 推論黑盒子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455371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LLM 生成答案與 Agent 執行動作之前,完成風險分類、即時攔截、人工接管與不可竄改存證。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5102352"/>
            <a:ext cx="1499616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548640" y="510235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不改模型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231136" y="5102352"/>
            <a:ext cx="1499616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2231136" y="510235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私有部署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913632" y="5102352"/>
            <a:ext cx="3995928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913632" y="5102352"/>
            <a:ext cx="3995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Audit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2440" y="5102352"/>
            <a:ext cx="2843784" cy="365760"/>
          </a:xfrm>
          <a:prstGeom prst="roundRect">
            <a:avLst>
              <a:gd name="adj" fmla="val 15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092440" y="510235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Lock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TRUST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692640" y="822960"/>
            <a:ext cx="914400" cy="36576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 flipH="1">
            <a:off x="10149840" y="1188720"/>
            <a:ext cx="457200" cy="73152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10607040" y="1188720"/>
            <a:ext cx="640080" cy="54864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10149840" y="1920240"/>
            <a:ext cx="731520" cy="73152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 flipH="1">
            <a:off x="10881360" y="1737360"/>
            <a:ext cx="365760" cy="91440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 flipH="1">
            <a:off x="9784080" y="1920240"/>
            <a:ext cx="365760" cy="54864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9642348" y="772668"/>
            <a:ext cx="100584" cy="10058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10556748" y="113842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10099548" y="186994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11196828" y="1687068"/>
            <a:ext cx="100584" cy="10058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10831068" y="260146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9733788" y="2418588"/>
            <a:ext cx="100584" cy="100584"/>
          </a:xfrm>
          <a:prstGeom prst="ellipse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市場缺口:治理藍圖已形成,缺少即時執行層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Trust 守在 AI 生成的當下。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5212080" cy="3429000"/>
          </a:xfrm>
          <a:prstGeom prst="roundRect">
            <a:avLst>
              <a:gd name="adj" fmla="val 2133"/>
            </a:avLst>
          </a:prstGeom>
          <a:solidFill>
            <a:schemeClr val="accent3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777240" y="193852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現有治理框架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2494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玉山銀行 × 台灣IBM 治理框架(2026/3 發布)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77240" y="2578608"/>
            <a:ext cx="93268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777240" y="2578608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風險分類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19656" y="2578608"/>
            <a:ext cx="7955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819656" y="2578608"/>
            <a:ext cx="795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控制項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24912" y="2578608"/>
            <a:ext cx="93268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2724912" y="2578608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生命週期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67328" y="257860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3767328" y="257860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殘餘風險評估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77240" y="31272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58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落地痛點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338328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A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正在生成或 Agent 準備執行時,誰能即時判斷並阻止?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777240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事後才檢查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970532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1970532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970532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163824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3163824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63824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不可控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357116" y="4087368"/>
            <a:ext cx="108356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4357116" y="417880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B27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57116" y="4480560"/>
            <a:ext cx="1083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不可稽核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89320" y="1755648"/>
            <a:ext cx="5212080" cy="3429000"/>
          </a:xfrm>
          <a:prstGeom prst="roundRect">
            <a:avLst>
              <a:gd name="adj" fmla="val 213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zh-TW" alt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263640" y="193852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RUNTIME TRUST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263640" y="226771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推論當下治理層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63640" y="271576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492240" y="262432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推論當下治理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63640" y="308152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6492240" y="299008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動作鎖定(Action Lock)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63640" y="344728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6492240" y="335584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人工接管(Human Takeover)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3813048"/>
            <a:ext cx="82296" cy="8229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492240" y="37216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不可竄改證據鏈(Evidence Ledger)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63640" y="4206240"/>
            <a:ext cx="4663440" cy="365760"/>
          </a:xfrm>
          <a:prstGeom prst="roundRect">
            <a:avLst>
              <a:gd name="adj" fmla="val 15000"/>
            </a:avLst>
          </a:prstGeom>
          <a:solidFill>
            <a:srgbClr val="2830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6263640" y="4206240"/>
            <a:ext cx="4663440" cy="365760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Token + Response + Action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63640" y="4681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定位:部署於生成式 AI 與金融業務系統之間的即時控制層。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2920" y="5303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全球監理進度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02920" y="5513832"/>
            <a:ext cx="3502152" cy="512064"/>
          </a:xfrm>
          <a:prstGeom prst="roundRect">
            <a:avLst>
              <a:gd name="adj" fmla="val 1071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649224" y="555040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台灣金管會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9224" y="573328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六大核心原則 → 2024 AI 指引 → 研議納入 Agentic AI 監理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178808" y="5513832"/>
            <a:ext cx="3502152" cy="512064"/>
          </a:xfrm>
          <a:prstGeom prst="roundRect">
            <a:avLst>
              <a:gd name="adj" fmla="val 1071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9" name="Text 47"/>
          <p:cNvSpPr/>
          <p:nvPr/>
        </p:nvSpPr>
        <p:spPr>
          <a:xfrm>
            <a:off x="4325112" y="555040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325112" y="573328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高風險義務原訂 2026/8 生效;Omnibus 提案延至 2027/12(審議中)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854696" y="5513832"/>
            <a:ext cx="3502152" cy="512064"/>
          </a:xfrm>
          <a:prstGeom prst="roundRect">
            <a:avLst>
              <a:gd name="adj" fmla="val 1071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8001000" y="555040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美國(聯邦 / 州)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001000" y="573328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7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無聯邦統一專法,州法先行;財政部 2026/2 發布金融業 AI 控制框架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02920" y="6144768"/>
            <a:ext cx="11183112" cy="411480"/>
          </a:xfrm>
          <a:prstGeom prst="roundRect">
            <a:avLst>
              <a:gd name="adj" fmla="val 13333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5" name="Text 53"/>
          <p:cNvSpPr/>
          <p:nvPr/>
        </p:nvSpPr>
        <p:spPr>
          <a:xfrm>
            <a:off x="777240" y="61447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法規定義「應該怎麼管」,Runtime Trust 負責「當下如何執行」。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產品架構:四層風險聯動到人工接管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Prompt 到 Action,四層訊號共同決定路由與接管。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871216" y="211226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Shape 6"/>
          <p:cNvSpPr/>
          <p:nvPr/>
        </p:nvSpPr>
        <p:spPr>
          <a:xfrm>
            <a:off x="315468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15468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522976" y="211226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580644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B2777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80644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74736" y="211226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8458200" y="178308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458200" y="1783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0292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Signal 強度分級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11880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611880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 無風險 · 放行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596128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CA8A0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5596128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 低度訊號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80376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7580376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 中度訊號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564624" y="2697480"/>
            <a:ext cx="1856232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9564624" y="269748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高度訊號 · 攔截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65760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502920" y="36576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Q0–Q3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3785616" y="398678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4069080" y="365760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4069080" y="36576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H0–H4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7351776" y="3986784"/>
            <a:ext cx="246888" cy="201168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7635240" y="3657600"/>
            <a:ext cx="3246120" cy="822960"/>
          </a:xfrm>
          <a:prstGeom prst="roundRect">
            <a:avLst>
              <a:gd name="adj" fmla="val 6667"/>
            </a:avLst>
          </a:prstGeom>
          <a:solidFill>
            <a:srgbClr val="9333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2" name="Text 30"/>
          <p:cNvSpPr/>
          <p:nvPr/>
        </p:nvSpPr>
        <p:spPr>
          <a:xfrm>
            <a:off x="7635240" y="36576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Ledger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(Hash Chain)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502920" y="480060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777240" y="4919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Non-Downgrade Policy Gate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724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任一高優先風險命中,不得被低分數或低置信度覆寫。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989320" y="480060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263640" y="4919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/ Default-Deny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未知、不支援、衝突、失效,一律不進 Q0 自動放行。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" y="5943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 — AI Compliance Gateway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297680" y="5943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 — Human Takeover Console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092440" y="59436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C — Evidence Ledger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7680" y="121920"/>
            <a:ext cx="853440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467" b="1" kern="0" spc="-67" dirty="0">
                <a:solidFill>
                  <a:srgbClr val="1D1D1F"/>
                </a:solidFill>
                <a:latin typeface="SF Pro Display, Arial" pitchFamily="34" charset="0"/>
                <a:ea typeface="SF Pro Display, Arial" pitchFamily="34" charset="-122"/>
                <a:cs typeface="SF Pro Display, Arial" pitchFamily="34" charset="-120"/>
              </a:rPr>
              <a:t>銀行 AI 事故——四層防護</a:t>
            </a:r>
            <a:endParaRPr lang="en-US" sz="3467" dirty="0"/>
          </a:p>
        </p:txBody>
      </p:sp>
      <p:sp>
        <p:nvSpPr>
          <p:cNvPr id="3" name="Text 1"/>
          <p:cNvSpPr/>
          <p:nvPr/>
        </p:nvSpPr>
        <p:spPr>
          <a:xfrm>
            <a:off x="6315456" y="223853"/>
            <a:ext cx="609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TRUST · </a:t>
            </a:r>
            <a:r>
              <a:rPr lang="en-US" sz="1467" dirty="0" err="1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解碼層防護</a:t>
            </a:r>
            <a:endParaRPr lang="en-US" sz="1467" dirty="0"/>
          </a:p>
        </p:txBody>
      </p:sp>
      <p:sp>
        <p:nvSpPr>
          <p:cNvPr id="4" name="Shape 2"/>
          <p:cNvSpPr/>
          <p:nvPr/>
        </p:nvSpPr>
        <p:spPr>
          <a:xfrm>
            <a:off x="9265920" y="146304"/>
            <a:ext cx="2438400" cy="438912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5" name="Text 3"/>
          <p:cNvSpPr/>
          <p:nvPr/>
        </p:nvSpPr>
        <p:spPr>
          <a:xfrm>
            <a:off x="9265920" y="146304"/>
            <a:ext cx="243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TRUST</a:t>
            </a:r>
            <a:endParaRPr lang="en-US" sz="1333" dirty="0"/>
          </a:p>
        </p:txBody>
      </p:sp>
      <p:sp>
        <p:nvSpPr>
          <p:cNvPr id="6" name="Shape 4"/>
          <p:cNvSpPr/>
          <p:nvPr/>
        </p:nvSpPr>
        <p:spPr>
          <a:xfrm>
            <a:off x="365760" y="778089"/>
            <a:ext cx="11460480" cy="341376"/>
          </a:xfrm>
          <a:prstGeom prst="roundRect">
            <a:avLst>
              <a:gd name="adj" fmla="val 28571"/>
            </a:avLst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7" name="Text 5"/>
          <p:cNvSpPr/>
          <p:nvPr/>
        </p:nvSpPr>
        <p:spPr>
          <a:xfrm>
            <a:off x="609600" y="802473"/>
            <a:ext cx="2682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600" y="948777"/>
            <a:ext cx="2682240" cy="12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金融查詢幻覺發生率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74720" y="802473"/>
            <a:ext cx="2682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948777"/>
            <a:ext cx="2682240" cy="12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Erica 累計請求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39840" y="802473"/>
            <a:ext cx="2682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39840" y="948777"/>
            <a:ext cx="2682240" cy="12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FINRA 幻覺合規警示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204960" y="802473"/>
            <a:ext cx="2682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Lloyd's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04960" y="948777"/>
            <a:ext cx="2682240" cy="12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已推出 AI 幻覺保險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1217001"/>
            <a:ext cx="2779776" cy="475488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6350">
            <a:solidFill>
              <a:srgbClr val="E8E8E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16" name="Shape 14"/>
          <p:cNvSpPr/>
          <p:nvPr/>
        </p:nvSpPr>
        <p:spPr>
          <a:xfrm>
            <a:off x="365760" y="1217001"/>
            <a:ext cx="2779776" cy="560832"/>
          </a:xfrm>
          <a:prstGeom prst="roundRect">
            <a:avLst>
              <a:gd name="adj" fmla="val 30769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17" name="Shape 15"/>
          <p:cNvSpPr/>
          <p:nvPr/>
        </p:nvSpPr>
        <p:spPr>
          <a:xfrm>
            <a:off x="365760" y="1680297"/>
            <a:ext cx="2779776" cy="243840"/>
          </a:xfrm>
          <a:prstGeom prst="roundRect">
            <a:avLst>
              <a:gd name="adj" fmla="val 70000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18" name="Shape 16"/>
          <p:cNvSpPr/>
          <p:nvPr/>
        </p:nvSpPr>
        <p:spPr>
          <a:xfrm>
            <a:off x="487680" y="1314537"/>
            <a:ext cx="438912" cy="341376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19" name="Text 17"/>
          <p:cNvSpPr/>
          <p:nvPr/>
        </p:nvSpPr>
        <p:spPr>
          <a:xfrm>
            <a:off x="487680" y="1314537"/>
            <a:ext cx="43891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99744" y="1302345"/>
            <a:ext cx="202387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004A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記錄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999744" y="1560576"/>
            <a:ext cx="2535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沒有記錄就沒有證據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7680" y="1948521"/>
            <a:ext cx="2535936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87680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24" name="Text 22"/>
          <p:cNvSpPr/>
          <p:nvPr/>
        </p:nvSpPr>
        <p:spPr>
          <a:xfrm>
            <a:off x="512064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현재 리스크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680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26" name="Text 24"/>
          <p:cNvSpPr/>
          <p:nvPr/>
        </p:nvSpPr>
        <p:spPr>
          <a:xfrm>
            <a:off x="512064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現在的風險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7680" y="2216745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授信 AI 告訴客戶「利率 2.8%」，實際是 3.6%。客戶提告。銀行無法回答：推論過程是什麼？幻覺還是設計？</a:t>
            </a:r>
            <a:endParaRPr lang="en-US" sz="1133" dirty="0"/>
          </a:p>
        </p:txBody>
      </p:sp>
      <p:sp>
        <p:nvSpPr>
          <p:cNvPr id="28" name="Shape 26"/>
          <p:cNvSpPr/>
          <p:nvPr/>
        </p:nvSpPr>
        <p:spPr>
          <a:xfrm>
            <a:off x="609600" y="3071873"/>
            <a:ext cx="2535936" cy="0"/>
          </a:xfrm>
          <a:prstGeom prst="line">
            <a:avLst/>
          </a:prstGeom>
          <a:noFill/>
          <a:ln w="7620">
            <a:solidFill>
              <a:srgbClr val="E8E8E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29" name="Shape 27"/>
          <p:cNvSpPr/>
          <p:nvPr/>
        </p:nvSpPr>
        <p:spPr>
          <a:xfrm>
            <a:off x="487680" y="3111318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30" name="Text 28"/>
          <p:cNvSpPr/>
          <p:nvPr/>
        </p:nvSpPr>
        <p:spPr>
          <a:xfrm>
            <a:off x="512064" y="311131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4AAD"/>
                </a:solidFill>
              </a:rPr>
              <a:t>✅  RUNTIME TRUST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7680" y="3355158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「2.8%」生成瞬間 Entropy 升高已記錄於 HMAC 稽核包。法庭調出：S1 知識盲區幻覺，非系統設計。責任立即釐清。</a:t>
            </a:r>
            <a:endParaRPr lang="en-US" sz="1133" dirty="0"/>
          </a:p>
        </p:txBody>
      </p:sp>
      <p:sp>
        <p:nvSpPr>
          <p:cNvPr id="32" name="Shape 30"/>
          <p:cNvSpPr/>
          <p:nvPr/>
        </p:nvSpPr>
        <p:spPr>
          <a:xfrm>
            <a:off x="487680" y="4793814"/>
            <a:ext cx="2535936" cy="390144"/>
          </a:xfrm>
          <a:prstGeom prst="roundRect">
            <a:avLst>
              <a:gd name="adj" fmla="val 50000"/>
            </a:avLst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33" name="Text 31"/>
          <p:cNvSpPr/>
          <p:nvPr/>
        </p:nvSpPr>
        <p:spPr>
          <a:xfrm>
            <a:off x="487680" y="4793814"/>
            <a:ext cx="2535936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每個 token 即時存證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67456" y="1217001"/>
            <a:ext cx="2779776" cy="475488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6350">
            <a:solidFill>
              <a:srgbClr val="E8E8E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35" name="Shape 33"/>
          <p:cNvSpPr/>
          <p:nvPr/>
        </p:nvSpPr>
        <p:spPr>
          <a:xfrm>
            <a:off x="3267456" y="1217001"/>
            <a:ext cx="2779776" cy="633984"/>
          </a:xfrm>
          <a:prstGeom prst="roundRect">
            <a:avLst>
              <a:gd name="adj" fmla="val 30769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36" name="Shape 34"/>
          <p:cNvSpPr/>
          <p:nvPr/>
        </p:nvSpPr>
        <p:spPr>
          <a:xfrm>
            <a:off x="3267456" y="1680297"/>
            <a:ext cx="2779776" cy="243840"/>
          </a:xfrm>
          <a:prstGeom prst="roundRect">
            <a:avLst>
              <a:gd name="adj" fmla="val 7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37" name="Shape 35"/>
          <p:cNvSpPr/>
          <p:nvPr/>
        </p:nvSpPr>
        <p:spPr>
          <a:xfrm>
            <a:off x="3389376" y="1314537"/>
            <a:ext cx="438912" cy="341376"/>
          </a:xfrm>
          <a:prstGeom prst="roundRect">
            <a:avLst>
              <a:gd name="adj" fmla="val 50000"/>
            </a:avLst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38" name="Text 36"/>
          <p:cNvSpPr/>
          <p:nvPr/>
        </p:nvSpPr>
        <p:spPr>
          <a:xfrm>
            <a:off x="3389376" y="1314537"/>
            <a:ext cx="43891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01440" y="1302345"/>
            <a:ext cx="202387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CC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即時警示</a:t>
            </a:r>
            <a:endParaRPr lang="en-US" sz="1733" dirty="0"/>
          </a:p>
        </p:txBody>
      </p:sp>
      <p:sp>
        <p:nvSpPr>
          <p:cNvPr id="40" name="Text 38"/>
          <p:cNvSpPr/>
          <p:nvPr/>
        </p:nvSpPr>
        <p:spPr>
          <a:xfrm>
            <a:off x="3389376" y="1680297"/>
            <a:ext cx="2535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事前防禦比事後賠償便宜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9376" y="1948521"/>
            <a:ext cx="2535936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3389376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43" name="Text 41"/>
          <p:cNvSpPr/>
          <p:nvPr/>
        </p:nvSpPr>
        <p:spPr>
          <a:xfrm>
            <a:off x="3413760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현재 리스크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389376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45" name="Text 43"/>
          <p:cNvSpPr/>
          <p:nvPr/>
        </p:nvSpPr>
        <p:spPr>
          <a:xfrm>
            <a:off x="3413760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現在的風險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389376" y="2216745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 篩查 AI 遭 Prompt Injection。攻擊者讓 AI 誤判 $200 萬可疑交易為正常，不發 SAR 警報。47 分鐘後才發現。</a:t>
            </a:r>
            <a:endParaRPr lang="en-US" sz="1133" dirty="0"/>
          </a:p>
        </p:txBody>
      </p:sp>
      <p:sp>
        <p:nvSpPr>
          <p:cNvPr id="47" name="Shape 45"/>
          <p:cNvSpPr/>
          <p:nvPr/>
        </p:nvSpPr>
        <p:spPr>
          <a:xfrm>
            <a:off x="3389376" y="3038166"/>
            <a:ext cx="2535936" cy="0"/>
          </a:xfrm>
          <a:prstGeom prst="line">
            <a:avLst/>
          </a:prstGeom>
          <a:noFill/>
          <a:ln w="7620">
            <a:solidFill>
              <a:srgbClr val="E8E8E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48" name="Shape 46"/>
          <p:cNvSpPr/>
          <p:nvPr/>
        </p:nvSpPr>
        <p:spPr>
          <a:xfrm>
            <a:off x="3389376" y="3111318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49" name="Text 47"/>
          <p:cNvSpPr/>
          <p:nvPr/>
        </p:nvSpPr>
        <p:spPr>
          <a:xfrm>
            <a:off x="3413760" y="311131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CC7700"/>
                </a:solidFill>
              </a:rPr>
              <a:t>✅  RUNTIME TRUST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389376" y="3355158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讓 hidden state 偏移。Drift 特徵 &lt; 20μs 觸發 S3 熔斷，SAR 自動發出。攻擊失敗，記錄完整。</a:t>
            </a:r>
            <a:endParaRPr lang="en-US" sz="1133" dirty="0"/>
          </a:p>
        </p:txBody>
      </p:sp>
      <p:sp>
        <p:nvSpPr>
          <p:cNvPr id="51" name="Shape 49"/>
          <p:cNvSpPr/>
          <p:nvPr/>
        </p:nvSpPr>
        <p:spPr>
          <a:xfrm>
            <a:off x="3389376" y="4793814"/>
            <a:ext cx="2535936" cy="390144"/>
          </a:xfrm>
          <a:prstGeom prst="roundRect">
            <a:avLst>
              <a:gd name="adj" fmla="val 50000"/>
            </a:avLst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52" name="Text 50"/>
          <p:cNvSpPr/>
          <p:nvPr/>
        </p:nvSpPr>
        <p:spPr>
          <a:xfrm>
            <a:off x="3389376" y="4793814"/>
            <a:ext cx="2535936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攔截時機 &lt; 20μs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169152" y="1217001"/>
            <a:ext cx="2779776" cy="475488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6350">
            <a:solidFill>
              <a:srgbClr val="E8E8E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54" name="Shape 52"/>
          <p:cNvSpPr/>
          <p:nvPr/>
        </p:nvSpPr>
        <p:spPr>
          <a:xfrm>
            <a:off x="6169152" y="1217001"/>
            <a:ext cx="2779776" cy="633984"/>
          </a:xfrm>
          <a:prstGeom prst="roundRect">
            <a:avLst>
              <a:gd name="adj" fmla="val 30769"/>
            </a:avLst>
          </a:prstGeom>
          <a:solidFill>
            <a:srgbClr val="E8F8EC"/>
          </a:solidFill>
          <a:ln w="12700">
            <a:solidFill>
              <a:srgbClr val="E8F8EC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55" name="Shape 53"/>
          <p:cNvSpPr/>
          <p:nvPr/>
        </p:nvSpPr>
        <p:spPr>
          <a:xfrm>
            <a:off x="6169152" y="1680297"/>
            <a:ext cx="2779776" cy="243840"/>
          </a:xfrm>
          <a:prstGeom prst="roundRect">
            <a:avLst>
              <a:gd name="adj" fmla="val 70000"/>
            </a:avLst>
          </a:prstGeom>
          <a:solidFill>
            <a:srgbClr val="E8F8EC"/>
          </a:solidFill>
          <a:ln w="12700">
            <a:solidFill>
              <a:srgbClr val="E8F8EC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56" name="Shape 54"/>
          <p:cNvSpPr/>
          <p:nvPr/>
        </p:nvSpPr>
        <p:spPr>
          <a:xfrm>
            <a:off x="6291072" y="1314537"/>
            <a:ext cx="438912" cy="341376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57" name="Text 55"/>
          <p:cNvSpPr/>
          <p:nvPr/>
        </p:nvSpPr>
        <p:spPr>
          <a:xfrm>
            <a:off x="6291072" y="1314537"/>
            <a:ext cx="43891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803136" y="1302345"/>
            <a:ext cx="202387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248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事後還原</a:t>
            </a:r>
            <a:endParaRPr lang="en-US" sz="1733" dirty="0"/>
          </a:p>
        </p:txBody>
      </p:sp>
      <p:sp>
        <p:nvSpPr>
          <p:cNvPr id="59" name="Text 57"/>
          <p:cNvSpPr/>
          <p:nvPr/>
        </p:nvSpPr>
        <p:spPr>
          <a:xfrm>
            <a:off x="6291072" y="1680297"/>
            <a:ext cx="2535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FINRA 查核，說不清楚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291072" y="1948521"/>
            <a:ext cx="2535936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61" name="Shape 59"/>
          <p:cNvSpPr/>
          <p:nvPr/>
        </p:nvSpPr>
        <p:spPr>
          <a:xfrm>
            <a:off x="6291072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62" name="Text 60"/>
          <p:cNvSpPr/>
          <p:nvPr/>
        </p:nvSpPr>
        <p:spPr>
          <a:xfrm>
            <a:off x="6315456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현재 리스크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91072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64" name="Text 62"/>
          <p:cNvSpPr/>
          <p:nvPr/>
        </p:nvSpPr>
        <p:spPr>
          <a:xfrm>
            <a:off x="6315456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現在的風險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91072" y="2216745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FINRA 要求：「過去 12 個月 AI 授信，有多少是模型不確定但仍輸出的？」沒有 token 層記錄，查核從 2 週拖到 6 個月。</a:t>
            </a:r>
            <a:endParaRPr lang="en-US" sz="1133" dirty="0"/>
          </a:p>
        </p:txBody>
      </p:sp>
      <p:sp>
        <p:nvSpPr>
          <p:cNvPr id="66" name="Shape 64"/>
          <p:cNvSpPr/>
          <p:nvPr/>
        </p:nvSpPr>
        <p:spPr>
          <a:xfrm>
            <a:off x="6291072" y="3038166"/>
            <a:ext cx="2535936" cy="0"/>
          </a:xfrm>
          <a:prstGeom prst="line">
            <a:avLst/>
          </a:prstGeom>
          <a:noFill/>
          <a:ln w="7620">
            <a:solidFill>
              <a:srgbClr val="E8E8E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67" name="Shape 65"/>
          <p:cNvSpPr/>
          <p:nvPr/>
        </p:nvSpPr>
        <p:spPr>
          <a:xfrm>
            <a:off x="6291072" y="3111318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E8F8EC"/>
          </a:solidFill>
          <a:ln w="12700">
            <a:solidFill>
              <a:srgbClr val="E8F8EC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68" name="Text 66"/>
          <p:cNvSpPr/>
          <p:nvPr/>
        </p:nvSpPr>
        <p:spPr>
          <a:xfrm>
            <a:off x="6315456" y="311131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248A3D"/>
                </a:solidFill>
              </a:rPr>
              <a:t>✅  RUNTIME TRUST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291072" y="3355158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S0–S3 分類統計一鍵調出。「15 萬筆，S0 89%、S1 9%、S2 1.8%、S3 0.2%，全部附 HMAC 稽核包。」查核 2 週結束。</a:t>
            </a:r>
            <a:endParaRPr lang="en-US" sz="1133" dirty="0"/>
          </a:p>
        </p:txBody>
      </p:sp>
      <p:sp>
        <p:nvSpPr>
          <p:cNvPr id="70" name="Shape 68"/>
          <p:cNvSpPr/>
          <p:nvPr/>
        </p:nvSpPr>
        <p:spPr>
          <a:xfrm>
            <a:off x="6291072" y="4793814"/>
            <a:ext cx="2535936" cy="390144"/>
          </a:xfrm>
          <a:prstGeom prst="roundRect">
            <a:avLst>
              <a:gd name="adj" fmla="val 50000"/>
            </a:avLst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71" name="Text 69"/>
          <p:cNvSpPr/>
          <p:nvPr/>
        </p:nvSpPr>
        <p:spPr>
          <a:xfrm>
            <a:off x="6291072" y="4793814"/>
            <a:ext cx="2535936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查核 6 個月 → 2 週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9070848" y="1217001"/>
            <a:ext cx="2779776" cy="475488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6350">
            <a:solidFill>
              <a:srgbClr val="E8E8E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73" name="Shape 71"/>
          <p:cNvSpPr/>
          <p:nvPr/>
        </p:nvSpPr>
        <p:spPr>
          <a:xfrm>
            <a:off x="9070848" y="1217001"/>
            <a:ext cx="2779776" cy="633984"/>
          </a:xfrm>
          <a:prstGeom prst="roundRect">
            <a:avLst>
              <a:gd name="adj" fmla="val 30769"/>
            </a:avLst>
          </a:prstGeom>
          <a:solidFill>
            <a:srgbClr val="F5EEFA"/>
          </a:solidFill>
          <a:ln w="12700">
            <a:solidFill>
              <a:srgbClr val="F5EEFA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74" name="Shape 72"/>
          <p:cNvSpPr/>
          <p:nvPr/>
        </p:nvSpPr>
        <p:spPr>
          <a:xfrm>
            <a:off x="9070848" y="1680297"/>
            <a:ext cx="2779776" cy="243840"/>
          </a:xfrm>
          <a:prstGeom prst="roundRect">
            <a:avLst>
              <a:gd name="adj" fmla="val 70000"/>
            </a:avLst>
          </a:prstGeom>
          <a:solidFill>
            <a:srgbClr val="F5EEFA"/>
          </a:solidFill>
          <a:ln w="12700">
            <a:solidFill>
              <a:srgbClr val="F5EEFA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75" name="Shape 73"/>
          <p:cNvSpPr/>
          <p:nvPr/>
        </p:nvSpPr>
        <p:spPr>
          <a:xfrm>
            <a:off x="9192768" y="1314537"/>
            <a:ext cx="438912" cy="341376"/>
          </a:xfrm>
          <a:prstGeom prst="roundRect">
            <a:avLst>
              <a:gd name="adj" fmla="val 50000"/>
            </a:avLst>
          </a:prstGeom>
          <a:solidFill>
            <a:srgbClr val="AF52DE"/>
          </a:solidFill>
          <a:ln w="12700">
            <a:solidFill>
              <a:srgbClr val="AF52DE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76" name="Text 74"/>
          <p:cNvSpPr/>
          <p:nvPr/>
        </p:nvSpPr>
        <p:spPr>
          <a:xfrm>
            <a:off x="9192768" y="1314537"/>
            <a:ext cx="43891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9704832" y="1302345"/>
            <a:ext cx="2023872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8B3D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文化轉變</a:t>
            </a:r>
            <a:endParaRPr lang="en-US" sz="1733" dirty="0"/>
          </a:p>
        </p:txBody>
      </p:sp>
      <p:sp>
        <p:nvSpPr>
          <p:cNvPr id="78" name="Text 76"/>
          <p:cNvSpPr/>
          <p:nvPr/>
        </p:nvSpPr>
        <p:spPr>
          <a:xfrm>
            <a:off x="9192768" y="1680297"/>
            <a:ext cx="2535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Lloyd's 已為 AI 幻覺定價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9192768" y="1948521"/>
            <a:ext cx="2535936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80" name="Shape 78"/>
          <p:cNvSpPr/>
          <p:nvPr/>
        </p:nvSpPr>
        <p:spPr>
          <a:xfrm>
            <a:off x="9192768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81" name="Text 79"/>
          <p:cNvSpPr/>
          <p:nvPr/>
        </p:nvSpPr>
        <p:spPr>
          <a:xfrm>
            <a:off x="9217152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현재 리스크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9192768" y="1972905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FF0EF"/>
          </a:solidFill>
          <a:ln w="12700">
            <a:solidFill>
              <a:srgbClr val="FFF0EF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83" name="Text 81"/>
          <p:cNvSpPr/>
          <p:nvPr/>
        </p:nvSpPr>
        <p:spPr>
          <a:xfrm>
            <a:off x="9217152" y="1972905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FF3B30"/>
                </a:solidFill>
              </a:rPr>
              <a:t>❌  現在的風險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9192768" y="2216745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Lloyd's 2025/5 推出 AI 幻覺保險。Scaled Cognition 募資 $1 億做幻覺控制。風控部門開始問：「我們的 AI 有治理機制嗎？」</a:t>
            </a:r>
            <a:endParaRPr lang="en-US" sz="1133" dirty="0"/>
          </a:p>
        </p:txBody>
      </p:sp>
      <p:sp>
        <p:nvSpPr>
          <p:cNvPr id="85" name="Shape 83"/>
          <p:cNvSpPr/>
          <p:nvPr/>
        </p:nvSpPr>
        <p:spPr>
          <a:xfrm>
            <a:off x="9192768" y="3038166"/>
            <a:ext cx="2535936" cy="0"/>
          </a:xfrm>
          <a:prstGeom prst="line">
            <a:avLst/>
          </a:prstGeom>
          <a:noFill/>
          <a:ln w="7620">
            <a:solidFill>
              <a:srgbClr val="E8E8ED"/>
            </a:solidFill>
            <a:prstDash val="solid"/>
          </a:ln>
        </p:spPr>
        <p:txBody>
          <a:bodyPr/>
          <a:lstStyle/>
          <a:p>
            <a:endParaRPr lang="zh-TW" altLang="en-US" sz="2400"/>
          </a:p>
        </p:txBody>
      </p:sp>
      <p:sp>
        <p:nvSpPr>
          <p:cNvPr id="86" name="Shape 84"/>
          <p:cNvSpPr/>
          <p:nvPr/>
        </p:nvSpPr>
        <p:spPr>
          <a:xfrm>
            <a:off x="9192768" y="3111318"/>
            <a:ext cx="2535936" cy="219456"/>
          </a:xfrm>
          <a:prstGeom prst="roundRect">
            <a:avLst>
              <a:gd name="adj" fmla="val 33333"/>
            </a:avLst>
          </a:prstGeom>
          <a:solidFill>
            <a:srgbClr val="F5EEFA"/>
          </a:solidFill>
          <a:ln w="12700">
            <a:solidFill>
              <a:srgbClr val="F5EEFA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87" name="Text 85"/>
          <p:cNvSpPr/>
          <p:nvPr/>
        </p:nvSpPr>
        <p:spPr>
          <a:xfrm>
            <a:off x="9217152" y="3111318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8B3DC0"/>
                </a:solidFill>
              </a:rPr>
              <a:t>✅  RUNTIME TRUST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9192768" y="3355158"/>
            <a:ext cx="2535936" cy="1365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33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裝 RUNTIME TRUST：token 層治理證明，保費較低，監管關係更好，出事時法律風險可控。沒裝：Lloyd's 保單越來越難拿。</a:t>
            </a:r>
            <a:endParaRPr lang="en-US" sz="1133" dirty="0"/>
          </a:p>
        </p:txBody>
      </p:sp>
      <p:sp>
        <p:nvSpPr>
          <p:cNvPr id="89" name="Shape 87"/>
          <p:cNvSpPr/>
          <p:nvPr/>
        </p:nvSpPr>
        <p:spPr>
          <a:xfrm>
            <a:off x="9192768" y="4793814"/>
            <a:ext cx="2535936" cy="390144"/>
          </a:xfrm>
          <a:prstGeom prst="roundRect">
            <a:avLst>
              <a:gd name="adj" fmla="val 50000"/>
            </a:avLst>
          </a:prstGeom>
          <a:solidFill>
            <a:srgbClr val="AF52DE"/>
          </a:solidFill>
          <a:ln w="12700">
            <a:solidFill>
              <a:srgbClr val="AF52DE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90" name="Text 88"/>
          <p:cNvSpPr/>
          <p:nvPr/>
        </p:nvSpPr>
        <p:spPr>
          <a:xfrm>
            <a:off x="9192768" y="4793814"/>
            <a:ext cx="2535936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有記錄 = 更低保費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365760" y="6008457"/>
            <a:ext cx="11460480" cy="268224"/>
          </a:xfrm>
          <a:prstGeom prst="roundRect">
            <a:avLst>
              <a:gd name="adj" fmla="val 36364"/>
            </a:avLst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92" name="Text 90"/>
          <p:cNvSpPr/>
          <p:nvPr/>
        </p:nvSpPr>
        <p:spPr>
          <a:xfrm>
            <a:off x="268224" y="6079911"/>
            <a:ext cx="146304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6E6E73"/>
                </a:solidFill>
              </a:rPr>
              <a:t>競爭者缺口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999744" y="6079911"/>
            <a:ext cx="1828800" cy="26822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r>
              <a:rPr lang="en-US" sz="1000" b="1" dirty="0">
                <a:solidFill>
                  <a:srgbClr val="6E6E73"/>
                </a:solidFill>
              </a:rPr>
              <a:t>Shieldbase  </a:t>
            </a:r>
            <a:r>
              <a:rPr lang="en-US" sz="933" dirty="0">
                <a:solidFill>
                  <a:srgbClr val="6E6E73"/>
                </a:solidFill>
              </a:rPr>
              <a:t>管員工用哪些 AI，看不到推論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267456" y="6079911"/>
            <a:ext cx="1828800" cy="26822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r>
              <a:rPr lang="en-US" sz="1000" b="1" dirty="0">
                <a:solidFill>
                  <a:srgbClr val="CC3377"/>
                </a:solidFill>
              </a:rPr>
              <a:t>HiddenLayer  </a:t>
            </a:r>
            <a:r>
              <a:rPr lang="en-US" sz="933" dirty="0">
                <a:solidFill>
                  <a:srgbClr val="6E6E73"/>
                </a:solidFill>
              </a:rPr>
              <a:t>部署前掃描，不攔推論時幻覺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575543" y="6069417"/>
            <a:ext cx="1682496" cy="26822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r>
              <a:rPr lang="en-US" sz="1000" b="1" dirty="0">
                <a:solidFill>
                  <a:srgbClr val="AF52DE"/>
                </a:solidFill>
              </a:rPr>
              <a:t>WitnessAI  </a:t>
            </a:r>
            <a:r>
              <a:rPr lang="en-US" sz="933" dirty="0">
                <a:solidFill>
                  <a:srgbClr val="6E6E73"/>
                </a:solidFill>
              </a:rPr>
              <a:t>攔 API 呼叫，不攔 token 幻覺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813073" y="6079911"/>
            <a:ext cx="1536192" cy="26822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r>
              <a:rPr lang="en-US" sz="1000" b="1" dirty="0">
                <a:solidFill>
                  <a:srgbClr val="FF9500"/>
                </a:solidFill>
              </a:rPr>
              <a:t>Lasso  </a:t>
            </a:r>
            <a:r>
              <a:rPr lang="en-US" sz="933" dirty="0">
                <a:solidFill>
                  <a:srgbClr val="6E6E73"/>
                </a:solidFill>
              </a:rPr>
              <a:t>輸出後過濾，無稽核軌跡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9561727" y="6105597"/>
            <a:ext cx="2072640" cy="200268"/>
          </a:xfrm>
          <a:prstGeom prst="roundRect">
            <a:avLst>
              <a:gd name="adj" fmla="val 33333"/>
            </a:avLst>
          </a:prstGeom>
          <a:solidFill>
            <a:srgbClr val="E8F1FD"/>
          </a:solidFill>
          <a:ln w="12700">
            <a:solidFill>
              <a:srgbClr val="E8F1FD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98" name="Text 96"/>
          <p:cNvSpPr/>
          <p:nvPr/>
        </p:nvSpPr>
        <p:spPr>
          <a:xfrm>
            <a:off x="9497568" y="6055527"/>
            <a:ext cx="2694432" cy="26822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r>
              <a:rPr lang="en-US" sz="1000" b="1" dirty="0">
                <a:solidFill>
                  <a:srgbClr val="0071E3"/>
                </a:solidFill>
              </a:rPr>
              <a:t>RUNTIME TRUST ★  </a:t>
            </a:r>
            <a:r>
              <a:rPr lang="en-US" sz="933" dirty="0">
                <a:solidFill>
                  <a:srgbClr val="0071E3"/>
                </a:solidFill>
              </a:rPr>
              <a:t>唯一在推論瞬間記錄＋攔截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396977" y="5466608"/>
            <a:ext cx="11460480" cy="414528"/>
          </a:xfrm>
          <a:prstGeom prst="roundRect">
            <a:avLst>
              <a:gd name="adj" fmla="val 35294"/>
            </a:avLst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  <a:effectLst>
            <a:outerShdw blurRad="152400" dist="508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TW" altLang="en-US" sz="2400"/>
          </a:p>
        </p:txBody>
      </p:sp>
      <p:sp>
        <p:nvSpPr>
          <p:cNvPr id="100" name="Text 98"/>
          <p:cNvSpPr/>
          <p:nvPr/>
        </p:nvSpPr>
        <p:spPr>
          <a:xfrm>
            <a:off x="446415" y="5483357"/>
            <a:ext cx="11119104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FFFFFF"/>
                </a:solidFill>
              </a:rPr>
              <a:t>RUNTIME TRUST 三個 ROI：</a:t>
            </a:r>
            <a:r>
              <a:rPr lang="en-US" sz="1200" dirty="0">
                <a:solidFill>
                  <a:srgbClr val="C8E0FF"/>
                </a:solidFill>
              </a:rPr>
              <a:t>  ① 降低保費（Lloyd's：有記錄 = 低風險）  ·  ② 加速查核（6 個月 → 2 週）  ·  ③ 阻斷 AML 攻擊（&lt; 20μs 熔斷）</a:t>
            </a:r>
            <a:r>
              <a:rPr lang="en-US" sz="1267" b="1" dirty="0">
                <a:solidFill>
                  <a:srgbClr val="FFFFFF"/>
                </a:solidFill>
              </a:rPr>
              <a:t>  ·  一個工具，三個 ROI。</a:t>
            </a:r>
            <a:endParaRPr lang="en-US" sz="1267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導入前後:AI 風險處理流程的差異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同一個風險,兩種完全不同的處理路徑 —— 對照業界痛點與 S0–S3 / Q0–Q3 / H0–H4 分級。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現況:沒有 Runtime Trust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02920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執行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14600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2779776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2779776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業務人員事後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發現異常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91456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056632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056632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 err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事後調閱</a:t>
            </a: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</a:t>
            </a:r>
          </a:p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050" b="1" dirty="0" err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不完整</a:t>
            </a: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068312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7333488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B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7333488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法遵/稽核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事後補簽核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45168" y="2276856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9610344" y="2048256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9610344" y="204825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監管查核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難以重建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28163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導入 Runtime Trust 後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02920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執行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14600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2779776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2779776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即時分級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S0–S3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91456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5056632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5056632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風險路由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Q0–Q3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68312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7333488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E6F5F3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7333488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鎖定+接管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H0–H4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345168" y="3310128"/>
            <a:ext cx="228600" cy="182880"/>
          </a:xfrm>
          <a:prstGeom prst="rightArrow">
            <a:avLst/>
          </a:prstGeom>
          <a:solidFill>
            <a:srgbClr val="9AA4C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9610344" y="3081528"/>
            <a:ext cx="1965960" cy="621792"/>
          </a:xfrm>
          <a:prstGeom prst="roundRect">
            <a:avLst>
              <a:gd name="adj" fmla="val 8824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9610344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證據鏈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可重建可稽核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913632"/>
            <a:ext cx="3611880" cy="566928"/>
          </a:xfrm>
          <a:prstGeom prst="roundRect">
            <a:avLst>
              <a:gd name="adj" fmla="val 9677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/>
          <p:nvPr/>
        </p:nvSpPr>
        <p:spPr>
          <a:xfrm>
            <a:off x="685800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S0–S3 訊號強度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85800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無風險 · S1 低度 · S2 中度 · S3 高度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288536" y="3913632"/>
            <a:ext cx="3611880" cy="566928"/>
          </a:xfrm>
          <a:prstGeom prst="roundRect">
            <a:avLst>
              <a:gd name="adj" fmla="val 9677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4471416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Q0–Q3 路由決策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471416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 放行 · Q1 補缺 · Q2 覆核 · Q3 阻斷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74152" y="3913632"/>
            <a:ext cx="3611880" cy="566928"/>
          </a:xfrm>
          <a:prstGeom prst="roundRect">
            <a:avLst>
              <a:gd name="adj" fmla="val 9677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8257032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H0–H4 人工接管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257032" y="422452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自動 · H1 留存 · H2 建議覆核 · H3 強制覆核 · H4 接管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453542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業界痛點回饋(訪談摘要)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02920" y="4828032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685800" y="488289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金融法遵主管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85800" y="5084064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 到底講了什麼、為什麼放行,現在只能靠人工對帳,想辦法還原。」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135624" y="4828032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9" name="Text 47"/>
          <p:cNvSpPr/>
          <p:nvPr/>
        </p:nvSpPr>
        <p:spPr>
          <a:xfrm>
            <a:off x="6318504" y="488289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資安長 / CISO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318504" y="5084064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「Guardrail 擋得住文字,但 Agent 真的要下單、運算跟資料的變動那一刻,我們完全看不到。」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5449824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2" name="Text 50"/>
          <p:cNvSpPr/>
          <p:nvPr/>
        </p:nvSpPr>
        <p:spPr>
          <a:xfrm>
            <a:off x="685800" y="5504688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33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稽核 / Audit 負責人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85800" y="5705856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「監理來查時,我們只能證明「有做過濾」,無法證明「那次決策有沒有被動過手腳」。」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135624" y="5449824"/>
            <a:ext cx="5468112" cy="530352"/>
          </a:xfrm>
          <a:prstGeom prst="roundRect">
            <a:avLst>
              <a:gd name="adj" fmla="val 1034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5" name="Text 53"/>
          <p:cNvSpPr/>
          <p:nvPr/>
        </p:nvSpPr>
        <p:spPr>
          <a:xfrm>
            <a:off x="6318504" y="5504688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/ 企業 AI 團隊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318504" y="5705856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「我們要保證高風險輸出一定不會自動執行,但現有工具只能事後跑報表。」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02920" y="6144768"/>
            <a:ext cx="11183112" cy="411480"/>
          </a:xfrm>
          <a:prstGeom prst="roundRect">
            <a:avLst>
              <a:gd name="adj" fmla="val 13333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8" name="Text 56"/>
          <p:cNvSpPr/>
          <p:nvPr/>
        </p:nvSpPr>
        <p:spPr>
          <a:xfrm>
            <a:off x="777240" y="61447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前後差異:風險判斷從「發生之後」搬到「發生當下</a:t>
            </a: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」。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市場機會:先打台灣金融,再複製到亞太與醫療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策略,搭配由下而上的市場規模估算。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02736" cy="1188720"/>
          </a:xfrm>
          <a:prstGeom prst="roundRect">
            <a:avLst>
              <a:gd name="adj" fmla="val 5385"/>
            </a:avLst>
          </a:prstGeom>
          <a:solidFill>
            <a:srgbClr val="E6F5F3"/>
          </a:solidFill>
          <a:ln w="1397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704088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Beachhead:台灣金融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4088" y="22585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地區銀行、中型銀行、證券、保險、金融科技</a:t>
            </a: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</a:t>
            </a: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與私有 LLM 導入團隊。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783080"/>
            <a:ext cx="3602736" cy="1188720"/>
          </a:xfrm>
          <a:prstGeom prst="roundRect">
            <a:avLst>
              <a:gd name="adj" fmla="val 538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489704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第一批場景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9704" y="22585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制裁 / PEP 審查。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74152" y="1783080"/>
            <a:ext cx="3602736" cy="1188720"/>
          </a:xfrm>
          <a:prstGeom prst="roundRect">
            <a:avLst>
              <a:gd name="adj" fmla="val 538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827532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商業模式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22585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付費 PoC → 年度授權 → 企業私有部署 → SI / </a:t>
            </a:r>
            <a:r>
              <a:rPr lang="en-US" sz="105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模型平台</a:t>
            </a: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2004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由下而上估算:台灣金融初期可服務市場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家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94360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金融機構 / 系統商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971800" y="3566160"/>
            <a:ext cx="292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64408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3264408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3355848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使用場景 / 家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733288" y="3566160"/>
            <a:ext cx="292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025896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6025896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60–200 萬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117336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年費 / 場景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494776" y="3566160"/>
            <a:ext cx="292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787384" y="356616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8787384" y="36758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3.6–20 億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8878824" y="40965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新台幣年收入機會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" y="4526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情境估算;實際依節點數、推論量、部署模式與服務內容調整。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55046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第二市場:</a:t>
            </a: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新加坡、日本、澳洲與東南亞金融機構。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57790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第三市場:</a:t>
            </a: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醫療 AI / 病歷摘要 / 臨床文件。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RUNTIME TRUST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從 Demo 走到可驗收 PoC:場域、背書與募資銜接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孵化器價值不只是空間與課程,而是幫我們打開第一個受監管客戶採購流程。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18/18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 S3 全數控制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82696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282696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374136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漏放(Fail-Closed 100%)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62472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062472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97.20ms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53912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端到端延遲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842248" y="1783080"/>
            <a:ext cx="2551176" cy="804672"/>
          </a:xfrm>
          <a:prstGeom prst="roundRect">
            <a:avLst>
              <a:gd name="adj" fmla="val 7955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842248" y="1874520"/>
            <a:ext cx="2551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18µs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933688" y="227685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Hook 額外成本目標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11183112" cy="365760"/>
          </a:xfrm>
          <a:prstGeom prst="roundRect">
            <a:avLst>
              <a:gd name="adj" fmla="val 15000"/>
            </a:avLst>
          </a:prstGeom>
          <a:solidFill>
            <a:srgbClr val="F3EC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731520" y="272491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Evidence:竄改測試可正確偵測,證明 append-only audit ledger 有效運作。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3291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天路線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36393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50292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33272" y="361188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0–30 天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33272" y="388620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整理回歸測試集、Reason Code、Evidence 欄位與採購 KPI。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4348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0292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33272" y="4407408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30–70 天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33272" y="468172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Mode(影子模式,新系統不介入正式決策、與既有流程並行驗證)Demo、P99 重測、Hash Chain 篡改測試。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52303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F5F3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502920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33272" y="5202936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70–120 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33272" y="5477256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9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與第一家機構 PoC,驗證 Q2 / Q3 分流與 Action Lock。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63640" y="3291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向孵化器的需求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63640" y="363931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6492240" y="37033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場域導入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01000" y="370332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介紹 2 家金融機構 + 1 家系統商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63640" y="427939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492240" y="43434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法遵背書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01000" y="434340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協助把驗收 KPI 寫成可採購語言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63640" y="491947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492240" y="49834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技術資源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001000" y="498348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 LLM / vLLM 壓測環境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63640" y="5559552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F3F5FB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3" name="Text 41"/>
          <p:cNvSpPr/>
          <p:nvPr/>
        </p:nvSpPr>
        <p:spPr>
          <a:xfrm>
            <a:off x="6492240" y="562356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募資銜接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01000" y="5623560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前完成資料室與投資人介紹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6144768"/>
            <a:ext cx="11183112" cy="411480"/>
          </a:xfrm>
          <a:prstGeom prst="roundRect">
            <a:avLst>
              <a:gd name="adj" fmla="val 13333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777240" y="61447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最終宣言:從 AI 治理框架,走到 AI 行動控制。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1475720" y="365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4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02920" y="6656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RUNTIME TRUST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1002</Words>
  <Application>Microsoft Macintosh PowerPoint</Application>
  <PresentationFormat>寬螢幕</PresentationFormat>
  <Paragraphs>243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2" baseType="lpstr">
      <vt:lpstr>SF Pro Display, Arial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Tommy Liu</cp:lastModifiedBy>
  <cp:revision>11</cp:revision>
  <dcterms:created xsi:type="dcterms:W3CDTF">2026-07-15T03:00:59Z</dcterms:created>
  <dcterms:modified xsi:type="dcterms:W3CDTF">2026-07-17T05:10:04Z</dcterms:modified>
</cp:coreProperties>
</file>