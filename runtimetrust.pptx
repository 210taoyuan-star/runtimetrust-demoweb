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4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6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0739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1430000" y="38404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kern="0" spc="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 TRUST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566928" y="3401568"/>
            <a:ext cx="2834640" cy="384048"/>
          </a:xfrm>
          <a:prstGeom prst="roundRect">
            <a:avLst>
              <a:gd name="adj" fmla="val 14286"/>
            </a:avLst>
          </a:prstGeom>
          <a:solidFill>
            <a:srgbClr val="E6F5F3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566928" y="340156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AI Governance Sidecar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04164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受監管產業的 AI 推論黑盒子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48640" y="4553712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LLM 生成答案與 Agent 執行動作之前,完成風險分類、即時攔截、人工接管與不可竄改存證。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5102352"/>
            <a:ext cx="1499616" cy="365760"/>
          </a:xfrm>
          <a:prstGeom prst="roundRect">
            <a:avLst>
              <a:gd name="adj" fmla="val 15000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548640" y="510235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不改模型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231136" y="5102352"/>
            <a:ext cx="1499616" cy="365760"/>
          </a:xfrm>
          <a:prstGeom prst="roundRect">
            <a:avLst>
              <a:gd name="adj" fmla="val 15000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2231136" y="510235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私有部署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913632" y="5102352"/>
            <a:ext cx="3995928" cy="365760"/>
          </a:xfrm>
          <a:prstGeom prst="roundRect">
            <a:avLst>
              <a:gd name="adj" fmla="val 15000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913632" y="5102352"/>
            <a:ext cx="3995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Token-level Audit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92440" y="5102352"/>
            <a:ext cx="2843784" cy="365760"/>
          </a:xfrm>
          <a:prstGeom prst="roundRect">
            <a:avLst>
              <a:gd name="adj" fmla="val 15000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8092440" y="5102352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Lock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66568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A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TRUST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9692640" y="822960"/>
            <a:ext cx="914400" cy="365760"/>
          </a:xfrm>
          <a:prstGeom prst="line">
            <a:avLst/>
          </a:prstGeom>
          <a:noFill/>
          <a:ln w="12700">
            <a:solidFill>
              <a:srgbClr val="E3E7F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 flipH="1">
            <a:off x="10149840" y="1188720"/>
            <a:ext cx="457200" cy="731520"/>
          </a:xfrm>
          <a:prstGeom prst="line">
            <a:avLst/>
          </a:prstGeom>
          <a:noFill/>
          <a:ln w="12700">
            <a:solidFill>
              <a:srgbClr val="E3E7F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10607040" y="1188720"/>
            <a:ext cx="640080" cy="548640"/>
          </a:xfrm>
          <a:prstGeom prst="line">
            <a:avLst/>
          </a:prstGeom>
          <a:noFill/>
          <a:ln w="12700">
            <a:solidFill>
              <a:srgbClr val="E3E7F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10149840" y="1920240"/>
            <a:ext cx="731520" cy="731520"/>
          </a:xfrm>
          <a:prstGeom prst="line">
            <a:avLst/>
          </a:prstGeom>
          <a:noFill/>
          <a:ln w="12700">
            <a:solidFill>
              <a:srgbClr val="E3E7F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 flipH="1">
            <a:off x="10881360" y="1737360"/>
            <a:ext cx="365760" cy="914400"/>
          </a:xfrm>
          <a:prstGeom prst="line">
            <a:avLst/>
          </a:prstGeom>
          <a:noFill/>
          <a:ln w="12700">
            <a:solidFill>
              <a:srgbClr val="E3E7F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 flipH="1">
            <a:off x="9784080" y="1920240"/>
            <a:ext cx="365760" cy="548640"/>
          </a:xfrm>
          <a:prstGeom prst="line">
            <a:avLst/>
          </a:prstGeom>
          <a:noFill/>
          <a:ln w="12700">
            <a:solidFill>
              <a:srgbClr val="E3E7F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9642348" y="772668"/>
            <a:ext cx="100584" cy="10058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Shape 25"/>
          <p:cNvSpPr/>
          <p:nvPr/>
        </p:nvSpPr>
        <p:spPr>
          <a:xfrm>
            <a:off x="10556748" y="1138428"/>
            <a:ext cx="100584" cy="100584"/>
          </a:xfrm>
          <a:prstGeom prst="ellipse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10099548" y="1869948"/>
            <a:ext cx="100584" cy="100584"/>
          </a:xfrm>
          <a:prstGeom prst="ellipse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11196828" y="1687068"/>
            <a:ext cx="100584" cy="10058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10831068" y="2601468"/>
            <a:ext cx="100584" cy="100584"/>
          </a:xfrm>
          <a:prstGeom prst="ellipse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Shape 29"/>
          <p:cNvSpPr/>
          <p:nvPr/>
        </p:nvSpPr>
        <p:spPr>
          <a:xfrm>
            <a:off x="9733788" y="2418588"/>
            <a:ext cx="100584" cy="100584"/>
          </a:xfrm>
          <a:prstGeom prst="ellipse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市場缺口:治理藍圖已形成,缺少即時執行層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Trust 守在 AI 生成的當下。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02920" y="1755648"/>
            <a:ext cx="5212080" cy="3429000"/>
          </a:xfrm>
          <a:prstGeom prst="roundRect">
            <a:avLst>
              <a:gd name="adj" fmla="val 2133"/>
            </a:avLst>
          </a:prstGeom>
          <a:solidFill>
            <a:schemeClr val="accent3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777240" y="193852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現有治理框架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77240" y="22494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玉山銀行 × 台灣IBM 治理框架(2026/3 發布)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77240" y="2578608"/>
            <a:ext cx="93268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777240" y="2578608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風險分類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819656" y="2578608"/>
            <a:ext cx="79552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1819656" y="2578608"/>
            <a:ext cx="795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控制項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24912" y="2578608"/>
            <a:ext cx="93268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2724912" y="2578608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生命週期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67328" y="257860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3767328" y="257860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殘餘風險評估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" y="312724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58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落地痛點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3383280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A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正在生成或 Agent 準備執行時,誰能即時判斷並阻止?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087368"/>
            <a:ext cx="108356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777240" y="4178808"/>
            <a:ext cx="10835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B27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4480560"/>
            <a:ext cx="1083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事後才檢查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970532" y="4087368"/>
            <a:ext cx="108356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1970532" y="4178808"/>
            <a:ext cx="10835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B27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970532" y="4480560"/>
            <a:ext cx="1083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不可證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163824" y="4087368"/>
            <a:ext cx="108356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3163824" y="4178808"/>
            <a:ext cx="10835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B27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63824" y="4480560"/>
            <a:ext cx="1083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不可控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357116" y="4087368"/>
            <a:ext cx="108356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4357116" y="4178808"/>
            <a:ext cx="10835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B27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357116" y="4480560"/>
            <a:ext cx="1083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不可稽核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989320" y="1755648"/>
            <a:ext cx="5212080" cy="3429000"/>
          </a:xfrm>
          <a:prstGeom prst="roundRect">
            <a:avLst>
              <a:gd name="adj" fmla="val 2133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zh-TW" alt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263640" y="193852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RUNTIME TRUST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6263640" y="2267712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推論當下治理層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63640" y="2715768"/>
            <a:ext cx="82296" cy="8229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6492240" y="2624328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推論當下治理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63640" y="3081528"/>
            <a:ext cx="82296" cy="8229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6" name="Text 34"/>
          <p:cNvSpPr/>
          <p:nvPr/>
        </p:nvSpPr>
        <p:spPr>
          <a:xfrm>
            <a:off x="6492240" y="2990088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動作鎖定(Action Lock)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263640" y="3447288"/>
            <a:ext cx="82296" cy="8229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8" name="Text 36"/>
          <p:cNvSpPr/>
          <p:nvPr/>
        </p:nvSpPr>
        <p:spPr>
          <a:xfrm>
            <a:off x="6492240" y="3355848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人工接管(Human Takeover)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63640" y="3813048"/>
            <a:ext cx="82296" cy="8229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0" name="Text 38"/>
          <p:cNvSpPr/>
          <p:nvPr/>
        </p:nvSpPr>
        <p:spPr>
          <a:xfrm>
            <a:off x="6492240" y="3721608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不可竄改證據鏈(Evidence Ledger)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63640" y="4206240"/>
            <a:ext cx="4663440" cy="365760"/>
          </a:xfrm>
          <a:prstGeom prst="roundRect">
            <a:avLst>
              <a:gd name="adj" fmla="val 15000"/>
            </a:avLst>
          </a:prstGeom>
          <a:solidFill>
            <a:srgbClr val="2830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2" name="Text 40"/>
          <p:cNvSpPr/>
          <p:nvPr/>
        </p:nvSpPr>
        <p:spPr>
          <a:xfrm>
            <a:off x="6263640" y="4206240"/>
            <a:ext cx="4663440" cy="365760"/>
          </a:xfrm>
          <a:prstGeom prst="rect">
            <a:avLst/>
          </a:prstGeom>
          <a:solidFill>
            <a:srgbClr val="FFFF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Token + Response + Action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63640" y="46817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定位:部署於生成式 AI 與金融業務系統之間的即時控制層。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02920" y="53035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全球監理進度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02920" y="5513832"/>
            <a:ext cx="3502152" cy="512064"/>
          </a:xfrm>
          <a:prstGeom prst="roundRect">
            <a:avLst>
              <a:gd name="adj" fmla="val 10714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6" name="Text 44"/>
          <p:cNvSpPr/>
          <p:nvPr/>
        </p:nvSpPr>
        <p:spPr>
          <a:xfrm>
            <a:off x="649224" y="5550408"/>
            <a:ext cx="3209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台灣金管會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49224" y="5733288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7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六大核心原則 → 2024 AI 指引 → 研議納入 Agentic AI 監理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178808" y="5513832"/>
            <a:ext cx="3502152" cy="512064"/>
          </a:xfrm>
          <a:prstGeom prst="roundRect">
            <a:avLst>
              <a:gd name="adj" fmla="val 10714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9" name="Text 47"/>
          <p:cNvSpPr/>
          <p:nvPr/>
        </p:nvSpPr>
        <p:spPr>
          <a:xfrm>
            <a:off x="4325112" y="5550408"/>
            <a:ext cx="3209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 AI Act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325112" y="5733288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7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高風險義務原訂 2026/8 生效;Omnibus 提案延至 2027/12(審議中)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854696" y="5513832"/>
            <a:ext cx="3502152" cy="512064"/>
          </a:xfrm>
          <a:prstGeom prst="roundRect">
            <a:avLst>
              <a:gd name="adj" fmla="val 10714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2" name="Text 50"/>
          <p:cNvSpPr/>
          <p:nvPr/>
        </p:nvSpPr>
        <p:spPr>
          <a:xfrm>
            <a:off x="8001000" y="5550408"/>
            <a:ext cx="3209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美國(聯邦 / 州)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8001000" y="5733288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7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無聯邦統一專法,州法先行;財政部 2026/2 發布金融業 AI 控制框架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02920" y="6144768"/>
            <a:ext cx="11183112" cy="411480"/>
          </a:xfrm>
          <a:prstGeom prst="roundRect">
            <a:avLst>
              <a:gd name="adj" fmla="val 13333"/>
            </a:avLst>
          </a:prstGeom>
          <a:solidFill>
            <a:schemeClr val="accent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5" name="Text 53"/>
          <p:cNvSpPr/>
          <p:nvPr/>
        </p:nvSpPr>
        <p:spPr>
          <a:xfrm>
            <a:off x="777240" y="614476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法規定義「應該怎麼管」,Runtime Trust 負責「當下如何執行」。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11475720" y="365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02920" y="66568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A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RUNTIME TRUST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產品架構:四層風險聯動到人工接管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Prompt 到 Action,四層訊號共同決定路由與接管。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502920" y="17830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2871216" y="2112264"/>
            <a:ext cx="246888" cy="201168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Shape 6"/>
          <p:cNvSpPr/>
          <p:nvPr/>
        </p:nvSpPr>
        <p:spPr>
          <a:xfrm>
            <a:off x="3154680" y="1783080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3154680" y="17830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522976" y="2112264"/>
            <a:ext cx="246888" cy="201168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5806440" y="1783080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DB277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5806440" y="17830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174736" y="2112264"/>
            <a:ext cx="246888" cy="201168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8458200" y="1783080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A580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8458200" y="17830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02920" y="2743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Signal 強度分級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11880" y="2697480"/>
            <a:ext cx="1856232" cy="45720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3611880" y="2697480"/>
            <a:ext cx="1856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 無風險 · 放行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596128" y="2697480"/>
            <a:ext cx="1856232" cy="457200"/>
          </a:xfrm>
          <a:prstGeom prst="roundRect">
            <a:avLst>
              <a:gd name="adj" fmla="val 12000"/>
            </a:avLst>
          </a:prstGeom>
          <a:solidFill>
            <a:srgbClr val="CA8A0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5596128" y="2697480"/>
            <a:ext cx="1856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 低度訊號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580376" y="2697480"/>
            <a:ext cx="1856232" cy="457200"/>
          </a:xfrm>
          <a:prstGeom prst="roundRect">
            <a:avLst>
              <a:gd name="adj" fmla="val 12000"/>
            </a:avLst>
          </a:prstGeom>
          <a:solidFill>
            <a:srgbClr val="EA580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7580376" y="2697480"/>
            <a:ext cx="1856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 中度訊號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564624" y="2697480"/>
            <a:ext cx="1856232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9564624" y="2697480"/>
            <a:ext cx="1856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 高度訊號 · 攔截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3657600"/>
            <a:ext cx="3246120" cy="822960"/>
          </a:xfrm>
          <a:prstGeom prst="roundRect">
            <a:avLst>
              <a:gd name="adj" fmla="val 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502920" y="36576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Q0–Q3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3785616" y="3986784"/>
            <a:ext cx="246888" cy="201168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4069080" y="3657600"/>
            <a:ext cx="3246120" cy="822960"/>
          </a:xfrm>
          <a:prstGeom prst="roundRect">
            <a:avLst>
              <a:gd name="adj" fmla="val 6667"/>
            </a:avLst>
          </a:prstGeom>
          <a:solidFill>
            <a:srgbClr val="16A3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4069080" y="36576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H0–H4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7351776" y="3986784"/>
            <a:ext cx="246888" cy="201168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Shape 29"/>
          <p:cNvSpPr/>
          <p:nvPr/>
        </p:nvSpPr>
        <p:spPr>
          <a:xfrm>
            <a:off x="7635240" y="3657600"/>
            <a:ext cx="3246120" cy="822960"/>
          </a:xfrm>
          <a:prstGeom prst="roundRect">
            <a:avLst>
              <a:gd name="adj" fmla="val 6667"/>
            </a:avLst>
          </a:prstGeom>
          <a:solidFill>
            <a:srgbClr val="9333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2" name="Text 30"/>
          <p:cNvSpPr/>
          <p:nvPr/>
        </p:nvSpPr>
        <p:spPr>
          <a:xfrm>
            <a:off x="7635240" y="36576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Ledger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(Hash Chain)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502920" y="4800600"/>
            <a:ext cx="5212080" cy="960120"/>
          </a:xfrm>
          <a:prstGeom prst="roundRect">
            <a:avLst>
              <a:gd name="adj" fmla="val 7619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777240" y="491947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Non-Downgrade Policy Gate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77240" y="52578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任一高優先風險命中,不得被低分數或低置信度覆寫。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989320" y="4800600"/>
            <a:ext cx="5212080" cy="960120"/>
          </a:xfrm>
          <a:prstGeom prst="roundRect">
            <a:avLst>
              <a:gd name="adj" fmla="val 7619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6263640" y="491947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/ Default-Deny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63640" y="52578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未知、不支援、衝突、失效,一律不進 Q0 自動放行。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02920" y="59436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A — AI Compliance Gateway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297680" y="59436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B — Human Takeover Console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092440" y="59436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C — Evidence Ledger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1475720" y="365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2920" y="66568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A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RUNTIME TRUST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導入前後:AI 風險處理流程的差異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同一個風險,兩種完全不同的處理路徑 —— 對照業界痛點與 S0–S3 / Q0–Q3 / H0–H4 分級。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現況:沒有 Runtime Trust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2048256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02920" y="2048256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 /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執行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14600" y="2276856"/>
            <a:ext cx="228600" cy="182880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2779776" y="2048256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FBEA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2779776" y="2048256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業務人員事後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發現異常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91456" y="2276856"/>
            <a:ext cx="228600" cy="182880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5056632" y="2048256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FBEA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5056632" y="2048256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 err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事後調閱</a:t>
            </a: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Log</a:t>
            </a:r>
          </a:p>
          <a:p>
            <a:pPr marL="0" indent="0" algn="ctr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050" b="1" dirty="0" err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不完整</a:t>
            </a: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068312" y="2276856"/>
            <a:ext cx="228600" cy="182880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7333488" y="2048256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FBEA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7333488" y="2048256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法遵/稽核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事後補簽核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345168" y="2276856"/>
            <a:ext cx="228600" cy="182880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9610344" y="2048256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9610344" y="2048256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監管查核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難以重建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28163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導入 Runtime Trust 後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3081528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502920" y="308152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 /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執行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514600" y="3310128"/>
            <a:ext cx="228600" cy="182880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2779776" y="3081528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E6F5F3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2779776" y="308152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即時分級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S0–S3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91456" y="3310128"/>
            <a:ext cx="228600" cy="182880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Shape 25"/>
          <p:cNvSpPr/>
          <p:nvPr/>
        </p:nvSpPr>
        <p:spPr>
          <a:xfrm>
            <a:off x="5056632" y="3081528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E6F5F3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5056632" y="308152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風險路由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Q0–Q3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068312" y="3310128"/>
            <a:ext cx="228600" cy="182880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7333488" y="3081528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E6F5F3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7333488" y="308152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鎖定+接管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H0–H4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345168" y="3310128"/>
            <a:ext cx="228600" cy="182880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3" name="Shape 31"/>
          <p:cNvSpPr/>
          <p:nvPr/>
        </p:nvSpPr>
        <p:spPr>
          <a:xfrm>
            <a:off x="9610344" y="3081528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9610344" y="308152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證據鏈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可重建可稽核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3913632"/>
            <a:ext cx="3611880" cy="566928"/>
          </a:xfrm>
          <a:prstGeom prst="roundRect">
            <a:avLst>
              <a:gd name="adj" fmla="val 9677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6" name="Text 34"/>
          <p:cNvSpPr/>
          <p:nvPr/>
        </p:nvSpPr>
        <p:spPr>
          <a:xfrm>
            <a:off x="685800" y="39776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S0–S3 訊號強度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85800" y="422452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無風險 · S1 低度 · S2 中度 · S3 高度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288536" y="3913632"/>
            <a:ext cx="3611880" cy="566928"/>
          </a:xfrm>
          <a:prstGeom prst="roundRect">
            <a:avLst>
              <a:gd name="adj" fmla="val 9677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9" name="Text 37"/>
          <p:cNvSpPr/>
          <p:nvPr/>
        </p:nvSpPr>
        <p:spPr>
          <a:xfrm>
            <a:off x="4471416" y="39776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Q0–Q3 路由決策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471416" y="422452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Q0 放行 · Q1 補缺 · Q2 覆核 · Q3 阻斷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074152" y="3913632"/>
            <a:ext cx="3611880" cy="566928"/>
          </a:xfrm>
          <a:prstGeom prst="roundRect">
            <a:avLst>
              <a:gd name="adj" fmla="val 9677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2" name="Text 40"/>
          <p:cNvSpPr/>
          <p:nvPr/>
        </p:nvSpPr>
        <p:spPr>
          <a:xfrm>
            <a:off x="8257032" y="39776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H0–H4 人工接管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8257032" y="422452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H0 自動 · H1 留存 · H2 建議覆核 · H3 強制覆核 · H4 接管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45354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業界痛點回饋(訪談摘要)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02920" y="4828032"/>
            <a:ext cx="5468112" cy="530352"/>
          </a:xfrm>
          <a:prstGeom prst="roundRect">
            <a:avLst>
              <a:gd name="adj" fmla="val 1034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6" name="Text 44"/>
          <p:cNvSpPr/>
          <p:nvPr/>
        </p:nvSpPr>
        <p:spPr>
          <a:xfrm>
            <a:off x="685800" y="4882896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金融法遵主管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85800" y="5084064"/>
            <a:ext cx="5102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「AI 到底講了什麼、為什麼放行,現在只能靠人工對帳,想辦法還原。」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135624" y="4828032"/>
            <a:ext cx="5468112" cy="530352"/>
          </a:xfrm>
          <a:prstGeom prst="roundRect">
            <a:avLst>
              <a:gd name="adj" fmla="val 1034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9" name="Text 47"/>
          <p:cNvSpPr/>
          <p:nvPr/>
        </p:nvSpPr>
        <p:spPr>
          <a:xfrm>
            <a:off x="6318504" y="4882896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資安長 / CISO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318504" y="5084064"/>
            <a:ext cx="5102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「Guardrail 擋得住文字,但 Agent 真的要下單、運算跟資料的變動那一刻,我們完全看不到。」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02920" y="5449824"/>
            <a:ext cx="5468112" cy="530352"/>
          </a:xfrm>
          <a:prstGeom prst="roundRect">
            <a:avLst>
              <a:gd name="adj" fmla="val 1034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2" name="Text 50"/>
          <p:cNvSpPr/>
          <p:nvPr/>
        </p:nvSpPr>
        <p:spPr>
          <a:xfrm>
            <a:off x="685800" y="5504688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33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稽核 / Audit 負責人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85800" y="5705856"/>
            <a:ext cx="5102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「監理來查時,我們只能證明「有做過濾」,無法證明「那次決策有沒有被動過手腳」。」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135624" y="5449824"/>
            <a:ext cx="5468112" cy="530352"/>
          </a:xfrm>
          <a:prstGeom prst="roundRect">
            <a:avLst>
              <a:gd name="adj" fmla="val 1034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5" name="Text 53"/>
          <p:cNvSpPr/>
          <p:nvPr/>
        </p:nvSpPr>
        <p:spPr>
          <a:xfrm>
            <a:off x="6318504" y="5504688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/ 企業 AI 團隊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318504" y="5705856"/>
            <a:ext cx="5102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「我們要保證高風險輸出一定不會自動執行,但現有工具只能事後跑報表。」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02920" y="6144768"/>
            <a:ext cx="11183112" cy="411480"/>
          </a:xfrm>
          <a:prstGeom prst="roundRect">
            <a:avLst>
              <a:gd name="adj" fmla="val 13333"/>
            </a:avLst>
          </a:prstGeom>
          <a:solidFill>
            <a:schemeClr val="accent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8" name="Text 56"/>
          <p:cNvSpPr/>
          <p:nvPr/>
        </p:nvSpPr>
        <p:spPr>
          <a:xfrm>
            <a:off x="777240" y="614476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前後差異:風險判斷從「發生之後」搬到「發生當下</a:t>
            </a:r>
            <a:r>
              <a:rPr lang="en-US" sz="12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」。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11475720" y="365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02920" y="66568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A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RUNTIME TRUST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市場機會:先打台灣金融,再複製到亞太與醫療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 策略,搭配由下而上的市場規模估算。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602736" cy="1188720"/>
          </a:xfrm>
          <a:prstGeom prst="roundRect">
            <a:avLst>
              <a:gd name="adj" fmla="val 5385"/>
            </a:avLst>
          </a:prstGeom>
          <a:solidFill>
            <a:srgbClr val="E6F5F3"/>
          </a:solidFill>
          <a:ln w="1397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704088" y="19202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Beachhead:台灣金融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04088" y="225856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地區銀行、中型銀行、證券、保險、金融科技、金融 SI 與私有 LLM 導入團隊。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88536" y="1783080"/>
            <a:ext cx="3602736" cy="1188720"/>
          </a:xfrm>
          <a:prstGeom prst="roundRect">
            <a:avLst>
              <a:gd name="adj" fmla="val 538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4489704" y="19202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第一批場景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89704" y="225856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/ 制裁 / PEP 審查。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074152" y="1783080"/>
            <a:ext cx="3602736" cy="1188720"/>
          </a:xfrm>
          <a:prstGeom prst="roundRect">
            <a:avLst>
              <a:gd name="adj" fmla="val 538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8275320" y="19202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商業模式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75320" y="225856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付費 PoC → 年度授權 → 企業私有部署 → SI / </a:t>
            </a:r>
            <a:r>
              <a:rPr lang="en-US" sz="1050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模型平台</a:t>
            </a: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32004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由下而上估算:台灣金融初期可服務市場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2468880" cy="868680"/>
          </a:xfrm>
          <a:prstGeom prst="roundRect">
            <a:avLst>
              <a:gd name="adj" fmla="val 7368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502920" y="367588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家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594360" y="40965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金融機構 / 系統商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971800" y="3566160"/>
            <a:ext cx="292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3264408" y="3566160"/>
            <a:ext cx="2468880" cy="868680"/>
          </a:xfrm>
          <a:prstGeom prst="roundRect">
            <a:avLst>
              <a:gd name="adj" fmla="val 7368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3264408" y="367588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3355848" y="40965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使用場景 / 家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733288" y="3566160"/>
            <a:ext cx="292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025896" y="3566160"/>
            <a:ext cx="2468880" cy="868680"/>
          </a:xfrm>
          <a:prstGeom prst="roundRect">
            <a:avLst>
              <a:gd name="adj" fmla="val 7368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6025896" y="367588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60–200 萬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6117336" y="40965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年費 / 場景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494776" y="3566160"/>
            <a:ext cx="292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787384" y="3566160"/>
            <a:ext cx="246888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8787384" y="367588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3.6–20 億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8878824" y="40965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7C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新台幣年收入機會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02920" y="4526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情境估算;實際依節點數、推論量、部署模式與服務內容調整。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2920" y="55046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第二市場:</a:t>
            </a: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新加坡、日本、澳洲與東南亞金融機構。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02920" y="577900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第三市場:</a:t>
            </a: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醫療 AI / 病歷摘要 / 臨床文件。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1475720" y="365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2920" y="66568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A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RUNTIME TRUST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從 Demo 走到可驗收 PoC:場域、背書與募資銜接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孵化器價值不只是空間與課程,而是幫我們打開第一個受監管客戶採購流程。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551176" cy="804672"/>
          </a:xfrm>
          <a:prstGeom prst="roundRect">
            <a:avLst>
              <a:gd name="adj" fmla="val 795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502920" y="1874520"/>
            <a:ext cx="25511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18/18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27685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 S3 全數控制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82696" y="1783080"/>
            <a:ext cx="2551176" cy="804672"/>
          </a:xfrm>
          <a:prstGeom prst="roundRect">
            <a:avLst>
              <a:gd name="adj" fmla="val 795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3282696" y="1874520"/>
            <a:ext cx="25511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374136" y="227685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漏放(Fail-Closed 100%)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62472" y="1783080"/>
            <a:ext cx="2551176" cy="804672"/>
          </a:xfrm>
          <a:prstGeom prst="roundRect">
            <a:avLst>
              <a:gd name="adj" fmla="val 795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062472" y="1874520"/>
            <a:ext cx="25511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97.20ms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153912" y="227685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端到端延遲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842248" y="1783080"/>
            <a:ext cx="2551176" cy="804672"/>
          </a:xfrm>
          <a:prstGeom prst="roundRect">
            <a:avLst>
              <a:gd name="adj" fmla="val 795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8842248" y="1874520"/>
            <a:ext cx="25511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18µs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933688" y="227685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Hook 額外成本目標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724912"/>
            <a:ext cx="11183112" cy="365760"/>
          </a:xfrm>
          <a:prstGeom prst="roundRect">
            <a:avLst>
              <a:gd name="adj" fmla="val 15000"/>
            </a:avLst>
          </a:prstGeom>
          <a:solidFill>
            <a:srgbClr val="F3EC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731520" y="272491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33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Evidence:竄改測試可正確偵測,證明 append-only audit ledger 有效運作。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32918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 天路線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2920" y="363931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6F5F3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50292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33272" y="3611880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0–30 天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33272" y="388620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整理回歸測試集、Reason Code、Evidence 欄位與採購 KPI。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" y="44348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6F5F3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502920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33272" y="4407408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30–70 天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33272" y="4681728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Mode(影子模式,新系統不介入正式決策、與既有流程並行驗證)Demo、P99 重測、Hash Chain 篡改測試。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02920" y="52303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6F5F3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502920" y="5230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33272" y="5202936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70–120 天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033272" y="5477256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與第一家機構 PoC,驗證 Q2 / Q3 分流與 Action Lock。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63640" y="32918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向孵化器的需求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263640" y="3639312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6492240" y="370332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場域導入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01000" y="3703320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介紹 2 家金融機構 + 1 家系統商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263640" y="4279392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6492240" y="434340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法遵背書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001000" y="4343400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協助把驗收 KPI 寫成可採購語言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63640" y="4919472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0" name="Text 38"/>
          <p:cNvSpPr/>
          <p:nvPr/>
        </p:nvSpPr>
        <p:spPr>
          <a:xfrm>
            <a:off x="6492240" y="49834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技術資源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001000" y="4983480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私有 LLM / vLLM 壓測環境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63640" y="5559552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3" name="Text 41"/>
          <p:cNvSpPr/>
          <p:nvPr/>
        </p:nvSpPr>
        <p:spPr>
          <a:xfrm>
            <a:off x="6492240" y="562356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募資銜接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001000" y="5623560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Day 前完成資料室與投資人介紹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02920" y="6144768"/>
            <a:ext cx="11183112" cy="411480"/>
          </a:xfrm>
          <a:prstGeom prst="roundRect">
            <a:avLst>
              <a:gd name="adj" fmla="val 13333"/>
            </a:avLst>
          </a:prstGeom>
          <a:solidFill>
            <a:schemeClr val="accent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6" name="Text 44"/>
          <p:cNvSpPr/>
          <p:nvPr/>
        </p:nvSpPr>
        <p:spPr>
          <a:xfrm>
            <a:off x="777240" y="614476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最終宣言:從 AI 治理框架,走到 AI 行動控制。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1475720" y="365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02920" y="66568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A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RUNTIME TRUST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674</Words>
  <Application>Microsoft Macintosh PowerPoint</Application>
  <PresentationFormat>寬螢幕</PresentationFormat>
  <Paragraphs>187</Paragraphs>
  <Slides>6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Tommy Liu</cp:lastModifiedBy>
  <cp:revision>9</cp:revision>
  <dcterms:created xsi:type="dcterms:W3CDTF">2026-07-15T03:00:59Z</dcterms:created>
  <dcterms:modified xsi:type="dcterms:W3CDTF">2026-07-15T13:45:05Z</dcterms:modified>
</cp:coreProperties>
</file>