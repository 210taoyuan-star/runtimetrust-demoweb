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66" r:id="rId4"/>
    <p:sldId id="270" r:id="rId5"/>
    <p:sldId id="269" r:id="rId6"/>
    <p:sldId id="271" r:id="rId7"/>
    <p:sldId id="267" r:id="rId8"/>
    <p:sldId id="272" r:id="rId9"/>
    <p:sldId id="274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84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0DF3AC25-28E9-5BA3-EA3A-570661DB8D31}"/>
              </a:ext>
            </a:extLst>
          </p:cNvPr>
          <p:cNvGrpSpPr/>
          <p:nvPr userDrawn="1"/>
        </p:nvGrpSpPr>
        <p:grpSpPr>
          <a:xfrm>
            <a:off x="0" y="6530109"/>
            <a:ext cx="12192000" cy="369332"/>
            <a:chOff x="0" y="6530109"/>
            <a:chExt cx="12192000" cy="369332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EFD4BF5-3226-47C6-19C4-3117F93BF6C1}"/>
                </a:ext>
              </a:extLst>
            </p:cNvPr>
            <p:cNvSpPr txBox="1"/>
            <p:nvPr userDrawn="1"/>
          </p:nvSpPr>
          <p:spPr>
            <a:xfrm>
              <a:off x="0" y="6530109"/>
              <a:ext cx="12192000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9C8B592-9BA9-84FC-9041-545416B6DF7E}"/>
                </a:ext>
              </a:extLst>
            </p:cNvPr>
            <p:cNvSpPr txBox="1"/>
            <p:nvPr userDrawn="1"/>
          </p:nvSpPr>
          <p:spPr>
            <a:xfrm>
              <a:off x="10649527" y="6573191"/>
              <a:ext cx="15424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solidFill>
                    <a:schemeClr val="bg1"/>
                  </a:solidFill>
                </a:rPr>
                <a:t>RUMTIME TRUST</a:t>
              </a:r>
              <a:endParaRPr lang="zh-TW" altLang="en-US" sz="1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321040" y="182880"/>
            <a:ext cx="3566160" cy="3566160"/>
          </a:xfrm>
          <a:prstGeom prst="arc">
            <a:avLst/>
          </a:prstGeom>
          <a:solidFill>
            <a:srgbClr val="F8FBFF">
              <a:alpha val="0"/>
            </a:srgbClr>
          </a:solidFill>
          <a:ln w="25400">
            <a:solidFill>
              <a:srgbClr val="D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869680" y="3703320"/>
            <a:ext cx="2834640" cy="2834640"/>
          </a:xfrm>
          <a:prstGeom prst="arc">
            <a:avLst/>
          </a:prstGeom>
          <a:solidFill>
            <a:srgbClr val="F8FBFF">
              <a:alpha val="0"/>
            </a:srgbClr>
          </a:solidFill>
          <a:ln w="25400">
            <a:solidFill>
              <a:srgbClr val="D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4DBB"/>
                </a:solidFill>
              </a:rPr>
              <a:t>RUNTIME TRUST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AppWorks Application Pitch Deck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4023360" cy="0"/>
          </a:xfrm>
          <a:prstGeom prst="line">
            <a:avLst/>
          </a:prstGeom>
          <a:noFill/>
          <a:ln w="27940">
            <a:solidFill>
              <a:srgbClr val="0B4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5212080" cy="50292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altLang="zh-TW" sz="1800" b="1" dirty="0" err="1">
                <a:solidFill>
                  <a:srgbClr val="0B4DBB"/>
                </a:solidFill>
              </a:rPr>
              <a:t>Caleb</a:t>
            </a:r>
            <a:r>
              <a:rPr lang="en-US" altLang="zh-TW" sz="1800" b="1" dirty="0">
                <a:solidFill>
                  <a:srgbClr val="0B4DBB"/>
                </a:solidFill>
              </a:rPr>
              <a:t> Liu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4617720"/>
            <a:ext cx="5212080" cy="50292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2026 July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2ACB125-2D29-BEB2-09B7-93317842F24D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zh-TW" sz="3200" dirty="0">
                <a:latin typeface="Calibri" panose="020F0502020204030204" pitchFamily="34" charset="0"/>
                <a:cs typeface="Calibri" panose="020F0502020204030204" pitchFamily="34" charset="0"/>
              </a:rPr>
              <a:t>Challenges in Integrating AI Systems into Financial Institutions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4DB221-9BBA-1EA1-ED76-9FA9B99E9957}"/>
              </a:ext>
            </a:extLst>
          </p:cNvPr>
          <p:cNvSpPr txBox="1"/>
          <p:nvPr/>
        </p:nvSpPr>
        <p:spPr>
          <a:xfrm>
            <a:off x="502920" y="1483568"/>
            <a:ext cx="106751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When implementing AI systems, financial institutions face several critical challenges, including regulatory compliance, data governance, model risk management (MRM), and cybersecurity. These challenges include: </a:t>
            </a: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Regulations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Compliance with regulations such as the </a:t>
            </a:r>
            <a:r>
              <a:rPr lang="en-US" altLang="zh-TW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AI Act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Privacy Regulations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Compliance with data protection laws such as the EU General Data Protection Regulation (GDPR)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Explainability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High-risk AI systems are required to provide explainable and transparent decision-making processes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Logging and Auditability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Maintaining a comprehensive AI event timeline and decision trace, with the ability to reconstruct AI operations and decisions for auditing and regulatory review.</a:t>
            </a:r>
          </a:p>
          <a:p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14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BC0F0-294B-98F4-0EAC-DEEF5570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8B79921-30BC-657C-DB89-A49146C1E7C2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zh-TW" altLang="en-US" sz="3200" dirty="0">
                <a:solidFill>
                  <a:srgbClr val="1F29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Platform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17CF310-AEE2-1DF5-FD13-64719D1E3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684845"/>
              </p:ext>
            </p:extLst>
          </p:nvPr>
        </p:nvGraphicFramePr>
        <p:xfrm>
          <a:off x="279919" y="2002041"/>
          <a:ext cx="11439330" cy="43035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6351">
                  <a:extLst>
                    <a:ext uri="{9D8B030D-6E8A-4147-A177-3AD203B41FA5}">
                      <a16:colId xmlns:a16="http://schemas.microsoft.com/office/drawing/2014/main" val="2941010776"/>
                    </a:ext>
                  </a:extLst>
                </a:gridCol>
                <a:gridCol w="3798628">
                  <a:extLst>
                    <a:ext uri="{9D8B030D-6E8A-4147-A177-3AD203B41FA5}">
                      <a16:colId xmlns:a16="http://schemas.microsoft.com/office/drawing/2014/main" val="1771684428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1565352011"/>
                    </a:ext>
                  </a:extLst>
                </a:gridCol>
                <a:gridCol w="3303037">
                  <a:extLst>
                    <a:ext uri="{9D8B030D-6E8A-4147-A177-3AD203B41FA5}">
                      <a16:colId xmlns:a16="http://schemas.microsoft.com/office/drawing/2014/main" val="811455600"/>
                    </a:ext>
                  </a:extLst>
                </a:gridCol>
              </a:tblGrid>
              <a:tr h="20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Core Module</a:t>
                      </a: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Technologies used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altLang="zh-TW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Representative Products / Technologies (Vendors)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5107440"/>
                  </a:ext>
                </a:extLst>
              </a:tr>
              <a:tr h="1013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Governance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the AI system compliant with corporate governance and regulatory requirements?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 the entire AI ecosystem—not just individual models.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Policy Engine, Human Review, Workflow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Microsoft AI Foundry Governance, IBM watsonx.governance, Google Cloud AI Governance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8193259"/>
                  </a:ext>
                </a:extLst>
              </a:tr>
              <a:tr h="4134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 Trust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the model trustworthy?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XAI, Calibration, Model Monitoring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Fiddler AI, Arize AI, WhyLabs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7246220"/>
                  </a:ext>
                </a:extLst>
              </a:tr>
              <a:tr h="5893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Output Reliability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 this response be </a:t>
                      </a:r>
                      <a:r>
                        <a:rPr lang="en-US" altLang="zh-TW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trusted? Prevent</a:t>
                      </a: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AI from confidently giving incorrect answers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RAG, Hallucination Detection, Confidence Score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Guardrails, RAG Evaluation, LLM-as-a-Judge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02017"/>
                  </a:ext>
                </a:extLst>
              </a:tr>
              <a:tr h="5507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Protection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the data </a:t>
                      </a:r>
                      <a:r>
                        <a:rPr lang="en-US" altLang="zh-TW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secure? Has</a:t>
                      </a: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any sensitive data been exposed or leaked?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DLP, PII Detection, Guardrails, Encryption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WitnessAI, Microsoft Purview, Guardrails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771368"/>
                  </a:ext>
                </a:extLst>
              </a:tr>
              <a:tr h="5690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Logging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 every AI decision be fully </a:t>
                      </a:r>
                      <a:r>
                        <a:rPr lang="en-US" altLang="zh-TW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traced? Reconstruct</a:t>
                      </a: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the complete AI decision-making process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Enterprise Logging, SIEM, Decision Trace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Splunk, Elastic, Datadog, Azure Monitor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7328302"/>
                  </a:ext>
                </a:extLst>
              </a:tr>
              <a:tr h="622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Identity &amp; Access</a:t>
                      </a:r>
                      <a:endParaRPr lang="zh-TW" sz="16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Who is authorized to use </a:t>
                      </a:r>
                      <a:r>
                        <a:rPr lang="en-US" altLang="zh-TW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AI? What</a:t>
                      </a:r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data and tools can the AI access?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　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Gateway, Microsoft Entra, Okta, CyberArk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9412874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48BF5D9-DC6F-A997-B2AE-F41B846F463C}"/>
              </a:ext>
            </a:extLst>
          </p:cNvPr>
          <p:cNvSpPr txBox="1"/>
          <p:nvPr/>
        </p:nvSpPr>
        <p:spPr>
          <a:xfrm>
            <a:off x="369384" y="927975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governance challenges in the financial industry can be addressed into six core modules. While these capabilities are delivered by different vendors, leading financial institutions integrate them into a unified AI Control Platform for centralized governance, compliance, and risk management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17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28F2-13D2-16FB-CE5D-FD52F901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452BF73-63C4-C0EE-D9E4-4986C5A8388D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zh-TW" sz="3200" dirty="0">
                <a:latin typeface="Calibri" panose="020F0502020204030204" pitchFamily="34" charset="0"/>
                <a:cs typeface="Calibri" panose="020F0502020204030204" pitchFamily="34" charset="0"/>
              </a:rPr>
              <a:t>AI Security Challenges at the Input/Output Layer</a:t>
            </a:r>
            <a:endParaRPr lang="en-US" altLang="zh-TW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1E6F299-94E2-A8D2-0B60-76EDF221727E}"/>
              </a:ext>
            </a:extLst>
          </p:cNvPr>
          <p:cNvSpPr txBox="1"/>
          <p:nvPr/>
        </p:nvSpPr>
        <p:spPr>
          <a:xfrm>
            <a:off x="502920" y="1156996"/>
            <a:ext cx="10675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The Input/Output layer of AI Security faces various security challenges associated with text inputs, semantic interpretation, and generated content. These challenges require multi-layered protection mechanisms, such as Prompt Firewall, AI Guardrails, RAG Database validation, and Human Review, to ensure the security and trustworthiness of AI inputs and outputs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D558E0B-4B8A-EB6E-513B-67BB22E7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675148"/>
              </p:ext>
            </p:extLst>
          </p:nvPr>
        </p:nvGraphicFramePr>
        <p:xfrm>
          <a:off x="783667" y="2385444"/>
          <a:ext cx="10228425" cy="2300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475">
                  <a:extLst>
                    <a:ext uri="{9D8B030D-6E8A-4147-A177-3AD203B41FA5}">
                      <a16:colId xmlns:a16="http://schemas.microsoft.com/office/drawing/2014/main" val="130151047"/>
                    </a:ext>
                  </a:extLst>
                </a:gridCol>
                <a:gridCol w="3409475">
                  <a:extLst>
                    <a:ext uri="{9D8B030D-6E8A-4147-A177-3AD203B41FA5}">
                      <a16:colId xmlns:a16="http://schemas.microsoft.com/office/drawing/2014/main" val="591924678"/>
                    </a:ext>
                  </a:extLst>
                </a:gridCol>
                <a:gridCol w="3409475">
                  <a:extLst>
                    <a:ext uri="{9D8B030D-6E8A-4147-A177-3AD203B41FA5}">
                      <a16:colId xmlns:a16="http://schemas.microsoft.com/office/drawing/2014/main" val="655045032"/>
                    </a:ext>
                  </a:extLst>
                </a:gridCol>
              </a:tblGrid>
              <a:tr h="51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Pipeline </a:t>
                      </a:r>
                      <a:r>
                        <a:rPr lang="en-US" altLang="zh-TW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Stage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Representative Risks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Responsible AI Control Platform 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Module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3211787"/>
                  </a:ext>
                </a:extLst>
              </a:tr>
              <a:tr h="519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)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Injection</a:t>
                      </a:r>
                      <a:r>
                        <a:rPr lang="zh-TW" sz="140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Jailbreak</a:t>
                      </a:r>
                      <a:r>
                        <a:rPr lang="zh-TW" sz="140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Leakage</a:t>
                      </a:r>
                      <a:endParaRPr lang="zh-TW" sz="14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Security + Guardrails + Data Protection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340454"/>
                  </a:ext>
                </a:extLst>
              </a:tr>
              <a:tr h="521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Knowledge / Model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Embedding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 DB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)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 Data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 DB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Drift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Trust + AI Governance + Data Protection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271477"/>
                  </a:ext>
                </a:extLst>
              </a:tr>
              <a:tr h="521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Response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)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hallucinations, incorrect citations, low-confidence responses, and policy-violating outputs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 Reliability + Guardrails + Human Review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519907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2685C3A-8834-0A56-0576-CFF2008FC6BD}"/>
              </a:ext>
            </a:extLst>
          </p:cNvPr>
          <p:cNvSpPr txBox="1"/>
          <p:nvPr/>
        </p:nvSpPr>
        <p:spPr>
          <a:xfrm>
            <a:off x="502919" y="4962340"/>
            <a:ext cx="10675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Current challenges involving text-based inputs and semantic interpretation are addressed through multiple defensive mechanisms, including Prompt Firewall, AI Guardrails, RAG Database validation, and Human Review</a:t>
            </a: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Trust’s solution leverages mathematical algorithms to address the inherent difficulty of prompt classification and provide a more robust approach to AI input security.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1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38DC-6BDD-3AE4-1E17-AF903D65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0FE7FBF-2FE3-9352-1DA7-419EF3EAB348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TRUST Solution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1E2CDD-1318-13D3-BE8C-6CBD6E7A9232}"/>
              </a:ext>
            </a:extLst>
          </p:cNvPr>
          <p:cNvSpPr txBox="1"/>
          <p:nvPr/>
        </p:nvSpPr>
        <p:spPr>
          <a:xfrm>
            <a:off x="502920" y="1156996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 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analyzes four vector-based features at the token decoding layer — </a:t>
            </a:r>
            <a:r>
              <a:rPr lang="zh-TW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margin, entropy, drift, and volatility 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— to enable real-time risk classification and intelligent routing.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CE9A5D6-D403-7B09-6D98-3AF291150AB8}"/>
              </a:ext>
            </a:extLst>
          </p:cNvPr>
          <p:cNvSpPr/>
          <p:nvPr/>
        </p:nvSpPr>
        <p:spPr>
          <a:xfrm>
            <a:off x="10728960" y="6522720"/>
            <a:ext cx="121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200" dirty="0"/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FA1FC10F-4FE1-00CD-4E0D-70FB5EE315DE}"/>
              </a:ext>
            </a:extLst>
          </p:cNvPr>
          <p:cNvGrpSpPr/>
          <p:nvPr/>
        </p:nvGrpSpPr>
        <p:grpSpPr>
          <a:xfrm>
            <a:off x="463296" y="2169243"/>
            <a:ext cx="2657856" cy="3415626"/>
            <a:chOff x="463296" y="1706880"/>
            <a:chExt cx="2657856" cy="3415626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83F1FB20-C2ED-0D2B-3A17-F7A80480325B}"/>
                </a:ext>
              </a:extLst>
            </p:cNvPr>
            <p:cNvSpPr/>
            <p:nvPr/>
          </p:nvSpPr>
          <p:spPr>
            <a:xfrm>
              <a:off x="463296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EBF3FF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17CF02FE-5DD4-0621-E5BD-9869E0E97694}"/>
                </a:ext>
              </a:extLst>
            </p:cNvPr>
            <p:cNvSpPr/>
            <p:nvPr/>
          </p:nvSpPr>
          <p:spPr>
            <a:xfrm>
              <a:off x="609600" y="1828800"/>
              <a:ext cx="536448" cy="536448"/>
            </a:xfrm>
            <a:prstGeom prst="ellipse">
              <a:avLst/>
            </a:prstGeom>
            <a:solidFill>
              <a:srgbClr val="1E4FD8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A791B0B4-5602-4E40-D77B-2221D8B1169D}"/>
                </a:ext>
              </a:extLst>
            </p:cNvPr>
            <p:cNvSpPr/>
            <p:nvPr/>
          </p:nvSpPr>
          <p:spPr>
            <a:xfrm>
              <a:off x="609600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</a:t>
              </a:r>
              <a:endParaRPr lang="en-US" sz="2133" dirty="0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95E5F63E-1B54-F2A3-A35F-5A07E1A6C817}"/>
                </a:ext>
              </a:extLst>
            </p:cNvPr>
            <p:cNvSpPr/>
            <p:nvPr/>
          </p:nvSpPr>
          <p:spPr>
            <a:xfrm>
              <a:off x="1219200" y="1950720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</a:t>
              </a:r>
              <a:endParaRPr lang="en-US" sz="1733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3D5A2A58-659E-0066-2CAC-124AD6E98B99}"/>
                </a:ext>
              </a:extLst>
            </p:cNvPr>
            <p:cNvSpPr/>
            <p:nvPr/>
          </p:nvSpPr>
          <p:spPr>
            <a:xfrm>
              <a:off x="1219200" y="2109216"/>
              <a:ext cx="17800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endParaRPr lang="en-US" sz="1333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58F07BF7-0135-17D5-3BD7-775C9B2AE790}"/>
                </a:ext>
              </a:extLst>
            </p:cNvPr>
            <p:cNvSpPr/>
            <p:nvPr/>
          </p:nvSpPr>
          <p:spPr>
            <a:xfrm>
              <a:off x="609600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4A66465B-1D79-0D92-F850-D161E7ACD071}"/>
                </a:ext>
              </a:extLst>
            </p:cNvPr>
            <p:cNvSpPr/>
            <p:nvPr/>
          </p:nvSpPr>
          <p:spPr>
            <a:xfrm>
              <a:off x="609600" y="2797505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</a:t>
              </a:r>
              <a:r>
                <a:rPr lang="en-US" sz="1400" b="1" dirty="0" err="1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high：</a:t>
              </a:r>
              <a:r>
                <a:rPr lang="en-US" sz="14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is highly confident and inference is stable</a:t>
              </a:r>
              <a:endParaRPr lang="en-US" sz="1400" dirty="0"/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46B14957-17AB-9B53-53CC-59323D47414A}"/>
                </a:ext>
              </a:extLst>
            </p:cNvPr>
            <p:cNvSpPr/>
            <p:nvPr/>
          </p:nvSpPr>
          <p:spPr>
            <a:xfrm>
              <a:off x="585216" y="4127120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</a:t>
              </a:r>
              <a:r>
                <a:rPr lang="en-US" sz="1400" b="1" dirty="0" err="1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low：</a:t>
              </a:r>
              <a:r>
                <a:rPr lang="en-US" sz="14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is uncertain among candidate outputs and may be vulnerable to manipulation.</a:t>
              </a:r>
              <a:endParaRPr lang="en-US" sz="1400" dirty="0"/>
            </a:p>
          </p:txBody>
        </p:sp>
        <p:sp>
          <p:nvSpPr>
            <p:cNvPr id="28" name="Shape 14">
              <a:extLst>
                <a:ext uri="{FF2B5EF4-FFF2-40B4-BE49-F238E27FC236}">
                  <a16:creationId xmlns:a16="http://schemas.microsoft.com/office/drawing/2014/main" id="{9FEB6896-86B7-4769-D767-4984CEE58868}"/>
                </a:ext>
              </a:extLst>
            </p:cNvPr>
            <p:cNvSpPr/>
            <p:nvPr/>
          </p:nvSpPr>
          <p:spPr>
            <a:xfrm>
              <a:off x="609600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B5010D94-8ECD-164D-F7B3-B9F5C8508113}"/>
              </a:ext>
            </a:extLst>
          </p:cNvPr>
          <p:cNvGrpSpPr/>
          <p:nvPr/>
        </p:nvGrpSpPr>
        <p:grpSpPr>
          <a:xfrm>
            <a:off x="3316224" y="2169243"/>
            <a:ext cx="2657856" cy="3415626"/>
            <a:chOff x="3316224" y="1706880"/>
            <a:chExt cx="2657856" cy="3415626"/>
          </a:xfrm>
        </p:grpSpPr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534AC0B4-B7CA-D574-EDF7-CC057D5F419B}"/>
                </a:ext>
              </a:extLst>
            </p:cNvPr>
            <p:cNvSpPr/>
            <p:nvPr/>
          </p:nvSpPr>
          <p:spPr>
            <a:xfrm>
              <a:off x="3316224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FF5EB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C087DA3C-443A-31F1-7CA0-94ECCAA928B5}"/>
                </a:ext>
              </a:extLst>
            </p:cNvPr>
            <p:cNvSpPr/>
            <p:nvPr/>
          </p:nvSpPr>
          <p:spPr>
            <a:xfrm>
              <a:off x="3462528" y="1828800"/>
              <a:ext cx="536448" cy="536448"/>
            </a:xfrm>
            <a:prstGeom prst="ellipse">
              <a:avLst/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38" name="Text 19">
              <a:extLst>
                <a:ext uri="{FF2B5EF4-FFF2-40B4-BE49-F238E27FC236}">
                  <a16:creationId xmlns:a16="http://schemas.microsoft.com/office/drawing/2014/main" id="{AE1013FE-06E8-0F0C-6DEE-05BF3FE7D0F5}"/>
                </a:ext>
              </a:extLst>
            </p:cNvPr>
            <p:cNvSpPr/>
            <p:nvPr/>
          </p:nvSpPr>
          <p:spPr>
            <a:xfrm>
              <a:off x="3462528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</a:t>
              </a:r>
              <a:endParaRPr lang="en-US" sz="2133" dirty="0"/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943F3636-5828-EBB3-7EF7-16B85AE50450}"/>
                </a:ext>
              </a:extLst>
            </p:cNvPr>
            <p:cNvSpPr/>
            <p:nvPr/>
          </p:nvSpPr>
          <p:spPr>
            <a:xfrm>
              <a:off x="4060464" y="1938528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Entropy</a:t>
              </a:r>
              <a:endParaRPr lang="en-US" sz="1733" dirty="0"/>
            </a:p>
          </p:txBody>
        </p:sp>
        <p:sp>
          <p:nvSpPr>
            <p:cNvPr id="44" name="Shape 22">
              <a:extLst>
                <a:ext uri="{FF2B5EF4-FFF2-40B4-BE49-F238E27FC236}">
                  <a16:creationId xmlns:a16="http://schemas.microsoft.com/office/drawing/2014/main" id="{2C72730F-FD18-AFF5-FE8D-2A5FFBD6DB84}"/>
                </a:ext>
              </a:extLst>
            </p:cNvPr>
            <p:cNvSpPr/>
            <p:nvPr/>
          </p:nvSpPr>
          <p:spPr>
            <a:xfrm>
              <a:off x="3462528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C0E66BF6-34BF-2B4B-1F19-E992E97CA3BA}"/>
                </a:ext>
              </a:extLst>
            </p:cNvPr>
            <p:cNvSpPr/>
            <p:nvPr/>
          </p:nvSpPr>
          <p:spPr>
            <a:xfrm>
              <a:off x="3508248" y="2778627"/>
              <a:ext cx="2389632" cy="6094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</a:t>
              </a:r>
              <a:r>
                <a:rPr lang="en-US" altLang="zh-TW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</a:t>
              </a:r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Probability distribution is highly dispersed; the model exhibits uncertainty</a:t>
              </a:r>
              <a:endParaRPr lang="en-US" sz="1400" dirty="0"/>
            </a:p>
          </p:txBody>
        </p:sp>
        <p:sp>
          <p:nvSpPr>
            <p:cNvPr id="50" name="Text 25">
              <a:extLst>
                <a:ext uri="{FF2B5EF4-FFF2-40B4-BE49-F238E27FC236}">
                  <a16:creationId xmlns:a16="http://schemas.microsoft.com/office/drawing/2014/main" id="{2373A1ED-64C1-6B69-36EE-164D63346214}"/>
                </a:ext>
              </a:extLst>
            </p:cNvPr>
            <p:cNvSpPr/>
            <p:nvPr/>
          </p:nvSpPr>
          <p:spPr>
            <a:xfrm>
              <a:off x="3508248" y="4146527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</a:t>
              </a:r>
              <a:r>
                <a:rPr lang="en-US" altLang="zh-TW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</a:t>
              </a:r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Probability distribution is concentrated, indicating a clear model decision</a:t>
              </a:r>
              <a:endParaRPr lang="en-US" sz="1400" dirty="0"/>
            </a:p>
          </p:txBody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EBAB11F4-2FEF-D8BB-92B0-91AD63C95F86}"/>
                </a:ext>
              </a:extLst>
            </p:cNvPr>
            <p:cNvSpPr/>
            <p:nvPr/>
          </p:nvSpPr>
          <p:spPr>
            <a:xfrm>
              <a:off x="3462528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5EE382AC-06B9-3581-7656-12F9DF4DF84F}"/>
              </a:ext>
            </a:extLst>
          </p:cNvPr>
          <p:cNvGrpSpPr/>
          <p:nvPr/>
        </p:nvGrpSpPr>
        <p:grpSpPr>
          <a:xfrm>
            <a:off x="6169152" y="2169243"/>
            <a:ext cx="2657856" cy="3415626"/>
            <a:chOff x="6169152" y="1706880"/>
            <a:chExt cx="2657856" cy="3415626"/>
          </a:xfrm>
        </p:grpSpPr>
        <p:sp>
          <p:nvSpPr>
            <p:cNvPr id="58" name="Shape 29">
              <a:extLst>
                <a:ext uri="{FF2B5EF4-FFF2-40B4-BE49-F238E27FC236}">
                  <a16:creationId xmlns:a16="http://schemas.microsoft.com/office/drawing/2014/main" id="{57052935-7D6E-3785-29EC-FB7C22EDE486}"/>
                </a:ext>
              </a:extLst>
            </p:cNvPr>
            <p:cNvSpPr/>
            <p:nvPr/>
          </p:nvSpPr>
          <p:spPr>
            <a:xfrm>
              <a:off x="6169152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5F0FF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60" name="Shape 30">
              <a:extLst>
                <a:ext uri="{FF2B5EF4-FFF2-40B4-BE49-F238E27FC236}">
                  <a16:creationId xmlns:a16="http://schemas.microsoft.com/office/drawing/2014/main" id="{22ADC56D-199C-07C9-63D7-33495491459B}"/>
                </a:ext>
              </a:extLst>
            </p:cNvPr>
            <p:cNvSpPr/>
            <p:nvPr/>
          </p:nvSpPr>
          <p:spPr>
            <a:xfrm>
              <a:off x="6315456" y="1828800"/>
              <a:ext cx="536448" cy="536448"/>
            </a:xfrm>
            <a:prstGeom prst="ellipse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62" name="Text 31">
              <a:extLst>
                <a:ext uri="{FF2B5EF4-FFF2-40B4-BE49-F238E27FC236}">
                  <a16:creationId xmlns:a16="http://schemas.microsoft.com/office/drawing/2014/main" id="{3A517955-92EB-A527-53BB-6C8409E4C671}"/>
                </a:ext>
              </a:extLst>
            </p:cNvPr>
            <p:cNvSpPr/>
            <p:nvPr/>
          </p:nvSpPr>
          <p:spPr>
            <a:xfrm>
              <a:off x="6315456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</a:t>
              </a:r>
              <a:endParaRPr lang="en-US" sz="2133" dirty="0"/>
            </a:p>
          </p:txBody>
        </p:sp>
        <p:sp>
          <p:nvSpPr>
            <p:cNvPr id="64" name="Text 32">
              <a:extLst>
                <a:ext uri="{FF2B5EF4-FFF2-40B4-BE49-F238E27FC236}">
                  <a16:creationId xmlns:a16="http://schemas.microsoft.com/office/drawing/2014/main" id="{79B9B9D2-37BC-4B73-53A1-3652533C6DA3}"/>
                </a:ext>
              </a:extLst>
            </p:cNvPr>
            <p:cNvSpPr/>
            <p:nvPr/>
          </p:nvSpPr>
          <p:spPr>
            <a:xfrm>
              <a:off x="6851904" y="1964965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Drift</a:t>
              </a:r>
              <a:endParaRPr lang="en-US" sz="1733" dirty="0"/>
            </a:p>
          </p:txBody>
        </p:sp>
        <p:sp>
          <p:nvSpPr>
            <p:cNvPr id="68" name="Shape 34">
              <a:extLst>
                <a:ext uri="{FF2B5EF4-FFF2-40B4-BE49-F238E27FC236}">
                  <a16:creationId xmlns:a16="http://schemas.microsoft.com/office/drawing/2014/main" id="{7675A708-E6C8-DECB-1CDB-0655CC09917F}"/>
                </a:ext>
              </a:extLst>
            </p:cNvPr>
            <p:cNvSpPr/>
            <p:nvPr/>
          </p:nvSpPr>
          <p:spPr>
            <a:xfrm>
              <a:off x="6315456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72" name="Text 36">
              <a:extLst>
                <a:ext uri="{FF2B5EF4-FFF2-40B4-BE49-F238E27FC236}">
                  <a16:creationId xmlns:a16="http://schemas.microsoft.com/office/drawing/2014/main" id="{FCBAD472-3F99-6ACD-E1A4-FA3BFF740D3F}"/>
                </a:ext>
              </a:extLst>
            </p:cNvPr>
            <p:cNvSpPr/>
            <p:nvPr/>
          </p:nvSpPr>
          <p:spPr>
            <a:xfrm>
              <a:off x="6315456" y="2685786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</a:t>
              </a:r>
              <a:r>
                <a:rPr lang="en-US" altLang="zh-TW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</a:t>
              </a:r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model's reasoning direction changes rapidly</a:t>
              </a:r>
              <a:endParaRPr lang="en-US" sz="1400" dirty="0"/>
            </a:p>
          </p:txBody>
        </p:sp>
        <p:sp>
          <p:nvSpPr>
            <p:cNvPr id="74" name="Text 37">
              <a:extLst>
                <a:ext uri="{FF2B5EF4-FFF2-40B4-BE49-F238E27FC236}">
                  <a16:creationId xmlns:a16="http://schemas.microsoft.com/office/drawing/2014/main" id="{5642EFFD-46EC-291D-727B-306E9A5842E6}"/>
                </a:ext>
              </a:extLst>
            </p:cNvPr>
            <p:cNvSpPr/>
            <p:nvPr/>
          </p:nvSpPr>
          <p:spPr>
            <a:xfrm>
              <a:off x="6437376" y="3961562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</a:t>
              </a:r>
              <a:r>
                <a:rPr lang="en-US" altLang="zh-TW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</a:t>
              </a:r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Inference trajectory remains consistent and stable</a:t>
              </a:r>
              <a:endParaRPr lang="en-US" sz="1400" dirty="0"/>
            </a:p>
          </p:txBody>
        </p:sp>
        <p:sp>
          <p:nvSpPr>
            <p:cNvPr id="76" name="Shape 38">
              <a:extLst>
                <a:ext uri="{FF2B5EF4-FFF2-40B4-BE49-F238E27FC236}">
                  <a16:creationId xmlns:a16="http://schemas.microsoft.com/office/drawing/2014/main" id="{21963CAA-C944-6B09-8115-E833C29E56EA}"/>
                </a:ext>
              </a:extLst>
            </p:cNvPr>
            <p:cNvSpPr/>
            <p:nvPr/>
          </p:nvSpPr>
          <p:spPr>
            <a:xfrm>
              <a:off x="6315456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BB41BEBB-33BD-E941-EAF4-D8D28D02E238}"/>
              </a:ext>
            </a:extLst>
          </p:cNvPr>
          <p:cNvGrpSpPr/>
          <p:nvPr/>
        </p:nvGrpSpPr>
        <p:grpSpPr>
          <a:xfrm>
            <a:off x="9022080" y="2169243"/>
            <a:ext cx="2657856" cy="3415626"/>
            <a:chOff x="9022080" y="1706880"/>
            <a:chExt cx="2657856" cy="3415626"/>
          </a:xfrm>
        </p:grpSpPr>
        <p:sp>
          <p:nvSpPr>
            <p:cNvPr id="82" name="Shape 41">
              <a:extLst>
                <a:ext uri="{FF2B5EF4-FFF2-40B4-BE49-F238E27FC236}">
                  <a16:creationId xmlns:a16="http://schemas.microsoft.com/office/drawing/2014/main" id="{63E9E449-F983-B649-1FC9-9EA1EE9DEA75}"/>
                </a:ext>
              </a:extLst>
            </p:cNvPr>
            <p:cNvSpPr/>
            <p:nvPr/>
          </p:nvSpPr>
          <p:spPr>
            <a:xfrm>
              <a:off x="9022080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0FBF7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84" name="Shape 42">
              <a:extLst>
                <a:ext uri="{FF2B5EF4-FFF2-40B4-BE49-F238E27FC236}">
                  <a16:creationId xmlns:a16="http://schemas.microsoft.com/office/drawing/2014/main" id="{4A1C64B1-5AAD-0EBA-43B1-690F7CC03241}"/>
                </a:ext>
              </a:extLst>
            </p:cNvPr>
            <p:cNvSpPr/>
            <p:nvPr/>
          </p:nvSpPr>
          <p:spPr>
            <a:xfrm>
              <a:off x="9168384" y="1828800"/>
              <a:ext cx="536448" cy="536448"/>
            </a:xfrm>
            <a:prstGeom prst="ellipse">
              <a:avLst/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86" name="Text 43">
              <a:extLst>
                <a:ext uri="{FF2B5EF4-FFF2-40B4-BE49-F238E27FC236}">
                  <a16:creationId xmlns:a16="http://schemas.microsoft.com/office/drawing/2014/main" id="{1AA8A781-DF2F-2E79-9AB4-8762BD556C63}"/>
                </a:ext>
              </a:extLst>
            </p:cNvPr>
            <p:cNvSpPr/>
            <p:nvPr/>
          </p:nvSpPr>
          <p:spPr>
            <a:xfrm>
              <a:off x="9168384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</a:t>
              </a:r>
              <a:endParaRPr lang="en-US" sz="2133" dirty="0"/>
            </a:p>
          </p:txBody>
        </p:sp>
        <p:sp>
          <p:nvSpPr>
            <p:cNvPr id="88" name="Text 44">
              <a:extLst>
                <a:ext uri="{FF2B5EF4-FFF2-40B4-BE49-F238E27FC236}">
                  <a16:creationId xmlns:a16="http://schemas.microsoft.com/office/drawing/2014/main" id="{87BCDC8F-F68B-71C0-3AE5-0E6A9D30873B}"/>
                </a:ext>
              </a:extLst>
            </p:cNvPr>
            <p:cNvSpPr/>
            <p:nvPr/>
          </p:nvSpPr>
          <p:spPr>
            <a:xfrm>
              <a:off x="9753600" y="1962834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Volatility</a:t>
              </a:r>
              <a:endParaRPr lang="en-US" sz="1733" dirty="0"/>
            </a:p>
          </p:txBody>
        </p:sp>
        <p:sp>
          <p:nvSpPr>
            <p:cNvPr id="92" name="Shape 46">
              <a:extLst>
                <a:ext uri="{FF2B5EF4-FFF2-40B4-BE49-F238E27FC236}">
                  <a16:creationId xmlns:a16="http://schemas.microsoft.com/office/drawing/2014/main" id="{18D5292D-329D-AAB9-FE2E-BB34A91A574F}"/>
                </a:ext>
              </a:extLst>
            </p:cNvPr>
            <p:cNvSpPr/>
            <p:nvPr/>
          </p:nvSpPr>
          <p:spPr>
            <a:xfrm>
              <a:off x="9168384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96" name="Text 48">
              <a:extLst>
                <a:ext uri="{FF2B5EF4-FFF2-40B4-BE49-F238E27FC236}">
                  <a16:creationId xmlns:a16="http://schemas.microsoft.com/office/drawing/2014/main" id="{F7EEAD3E-D5B2-76B1-5120-0C927233B4F6}"/>
                </a:ext>
              </a:extLst>
            </p:cNvPr>
            <p:cNvSpPr/>
            <p:nvPr/>
          </p:nvSpPr>
          <p:spPr>
            <a:xfrm>
              <a:off x="9144000" y="2786339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</a:t>
              </a:r>
              <a:r>
                <a:rPr lang="en-US" altLang="zh-TW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</a:t>
              </a:r>
              <a:r>
                <a:rPr lang="en-US" sz="14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repeatedly oscillates between confidence and uncertainty</a:t>
              </a:r>
              <a:endParaRPr lang="en-US" sz="1400" dirty="0"/>
            </a:p>
          </p:txBody>
        </p:sp>
        <p:sp>
          <p:nvSpPr>
            <p:cNvPr id="98" name="Text 49">
              <a:extLst>
                <a:ext uri="{FF2B5EF4-FFF2-40B4-BE49-F238E27FC236}">
                  <a16:creationId xmlns:a16="http://schemas.microsoft.com/office/drawing/2014/main" id="{2ED81AD5-6027-10CD-80CE-CC07E7941187}"/>
                </a:ext>
              </a:extLst>
            </p:cNvPr>
            <p:cNvSpPr/>
            <p:nvPr/>
          </p:nvSpPr>
          <p:spPr>
            <a:xfrm>
              <a:off x="9217152" y="4035709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</a:t>
              </a:r>
              <a:r>
                <a:rPr lang="en-US" altLang="zh-TW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</a:t>
              </a:r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：</a:t>
              </a: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inference state remains stable.</a:t>
              </a:r>
              <a:endParaRPr lang="en-US" sz="1400" dirty="0"/>
            </a:p>
          </p:txBody>
        </p:sp>
        <p:sp>
          <p:nvSpPr>
            <p:cNvPr id="100" name="Shape 50">
              <a:extLst>
                <a:ext uri="{FF2B5EF4-FFF2-40B4-BE49-F238E27FC236}">
                  <a16:creationId xmlns:a16="http://schemas.microsoft.com/office/drawing/2014/main" id="{7A36B0C4-21F2-2A4F-7AA9-714AB3A54529}"/>
                </a:ext>
              </a:extLst>
            </p:cNvPr>
            <p:cNvSpPr/>
            <p:nvPr/>
          </p:nvSpPr>
          <p:spPr>
            <a:xfrm>
              <a:off x="9168384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05651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0802-DA03-0601-718D-0A178AAFA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218F81D-FCF3-8425-F133-3618C70AE911}"/>
              </a:ext>
            </a:extLst>
          </p:cNvPr>
          <p:cNvSpPr/>
          <p:nvPr/>
        </p:nvSpPr>
        <p:spPr>
          <a:xfrm>
            <a:off x="502920" y="27707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TRUST Solution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7F2D9BE-E3E2-6DC4-C217-432FA1B1987E}"/>
              </a:ext>
            </a:extLst>
          </p:cNvPr>
          <p:cNvSpPr txBox="1"/>
          <p:nvPr/>
        </p:nvSpPr>
        <p:spPr>
          <a:xfrm>
            <a:off x="502920" y="784926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 analysis of margin, entropy, drift, and volatility enables real-time risk classification and automated response routing, reducing both response time and operational costs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54E471A-5761-55AA-8D4F-1AD0752C611D}"/>
              </a:ext>
            </a:extLst>
          </p:cNvPr>
          <p:cNvSpPr/>
          <p:nvPr/>
        </p:nvSpPr>
        <p:spPr>
          <a:xfrm>
            <a:off x="10728960" y="6522720"/>
            <a:ext cx="121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2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DE0A515-FF90-00ED-EE18-C237ED9A864E}"/>
              </a:ext>
            </a:extLst>
          </p:cNvPr>
          <p:cNvSpPr/>
          <p:nvPr/>
        </p:nvSpPr>
        <p:spPr>
          <a:xfrm>
            <a:off x="817735" y="6110441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B99046-15C2-D71E-97CA-909254924521}"/>
              </a:ext>
            </a:extLst>
          </p:cNvPr>
          <p:cNvSpPr/>
          <p:nvPr/>
        </p:nvSpPr>
        <p:spPr>
          <a:xfrm>
            <a:off x="5045746" y="6109064"/>
            <a:ext cx="1212233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B4156FA5-94BF-999F-1D06-A68827E550CF}"/>
              </a:ext>
            </a:extLst>
          </p:cNvPr>
          <p:cNvSpPr/>
          <p:nvPr/>
        </p:nvSpPr>
        <p:spPr>
          <a:xfrm>
            <a:off x="1067671" y="173746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AECE7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A74F51E-8645-D4A1-B1CE-545BB164772B}"/>
              </a:ext>
            </a:extLst>
          </p:cNvPr>
          <p:cNvSpPr/>
          <p:nvPr/>
        </p:nvSpPr>
        <p:spPr>
          <a:xfrm>
            <a:off x="1156498" y="1834167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S2</a:t>
            </a:r>
            <a:endParaRPr lang="en-US" sz="18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C94E901E-3C6E-8A19-A654-9C7304B5D711}"/>
              </a:ext>
            </a:extLst>
          </p:cNvPr>
          <p:cNvSpPr/>
          <p:nvPr/>
        </p:nvSpPr>
        <p:spPr>
          <a:xfrm>
            <a:off x="1863634" y="1834167"/>
            <a:ext cx="1438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5284A89E-4DC4-53B9-69AA-5BBE2723D9FA}"/>
              </a:ext>
            </a:extLst>
          </p:cNvPr>
          <p:cNvSpPr/>
          <p:nvPr/>
        </p:nvSpPr>
        <p:spPr>
          <a:xfrm>
            <a:off x="1018903" y="2301160"/>
            <a:ext cx="2366989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low</a:t>
            </a:r>
            <a:r>
              <a:rPr lang="zh-TW" alt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high </a:t>
            </a:r>
          </a:p>
          <a:p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Drift low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“model shows uncertainty while maintaining contextual coherence”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1E0BB02-492F-7BC8-D890-45689F278FC0}"/>
              </a:ext>
            </a:extLst>
          </p:cNvPr>
          <p:cNvSpPr/>
          <p:nvPr/>
        </p:nvSpPr>
        <p:spPr>
          <a:xfrm>
            <a:off x="1156498" y="3272823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≥ 0.75 / drift &lt; 0.18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CC6259C-885D-42C7-824A-6A7008501BB0}"/>
              </a:ext>
            </a:extLst>
          </p:cNvPr>
          <p:cNvSpPr/>
          <p:nvPr/>
        </p:nvSpPr>
        <p:spPr>
          <a:xfrm>
            <a:off x="3497362" y="171224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CEAEA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88FE984-8BD1-2141-17E9-08841B38C223}"/>
              </a:ext>
            </a:extLst>
          </p:cNvPr>
          <p:cNvSpPr/>
          <p:nvPr/>
        </p:nvSpPr>
        <p:spPr>
          <a:xfrm>
            <a:off x="3619282" y="1834167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</a:t>
            </a:r>
            <a:endParaRPr lang="en-US" sz="18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993CAD5B-0555-A34C-23E5-136F4EB5330E}"/>
              </a:ext>
            </a:extLst>
          </p:cNvPr>
          <p:cNvSpPr/>
          <p:nvPr/>
        </p:nvSpPr>
        <p:spPr>
          <a:xfrm>
            <a:off x="3457304" y="2345360"/>
            <a:ext cx="245059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low</a:t>
            </a:r>
            <a:r>
              <a:rPr lang="zh-TW" alt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Entropy high </a:t>
            </a:r>
          </a:p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Drift high</a:t>
            </a:r>
            <a:endParaRPr lang="en-US" altLang="zh-TW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“Critical anomaly and loss of control”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C977FA1-70F9-4809-E3B5-77C54BCA5A30}"/>
              </a:ext>
            </a:extLst>
          </p:cNvPr>
          <p:cNvSpPr/>
          <p:nvPr/>
        </p:nvSpPr>
        <p:spPr>
          <a:xfrm>
            <a:off x="3619282" y="3272823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≥ 0.92 OR drift ≥ 0.45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25B4C082-467C-687F-676B-ABC68AA8925A}"/>
              </a:ext>
            </a:extLst>
          </p:cNvPr>
          <p:cNvSpPr/>
          <p:nvPr/>
        </p:nvSpPr>
        <p:spPr>
          <a:xfrm>
            <a:off x="1034578" y="380927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EAF3DE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21EDDE7F-186E-2312-0B15-453DAE2C2939}"/>
              </a:ext>
            </a:extLst>
          </p:cNvPr>
          <p:cNvSpPr/>
          <p:nvPr/>
        </p:nvSpPr>
        <p:spPr>
          <a:xfrm>
            <a:off x="1156498" y="3931191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S0</a:t>
            </a:r>
            <a:endParaRPr lang="en-US" sz="18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E20B336F-126B-6111-1E58-5279A6A94156}"/>
              </a:ext>
            </a:extLst>
          </p:cNvPr>
          <p:cNvSpPr/>
          <p:nvPr/>
        </p:nvSpPr>
        <p:spPr>
          <a:xfrm>
            <a:off x="1863634" y="3931191"/>
            <a:ext cx="1438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9130C817-E688-CBA4-6084-B7853304CCDF}"/>
              </a:ext>
            </a:extLst>
          </p:cNvPr>
          <p:cNvSpPr/>
          <p:nvPr/>
        </p:nvSpPr>
        <p:spPr>
          <a:xfrm>
            <a:off x="998873" y="4345719"/>
            <a:ext cx="2340863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high</a:t>
            </a:r>
            <a:r>
              <a:rPr lang="zh-TW" alt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Entropy low </a:t>
            </a:r>
          </a:p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Drift low</a:t>
            </a:r>
            <a:endParaRPr lang="en-US" altLang="zh-TW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zh-TW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 Normal inference with stable context </a:t>
            </a:r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8787EC42-277A-DD93-309F-81F2FDC08AC3}"/>
              </a:ext>
            </a:extLst>
          </p:cNvPr>
          <p:cNvSpPr/>
          <p:nvPr/>
        </p:nvSpPr>
        <p:spPr>
          <a:xfrm>
            <a:off x="1156498" y="5369847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&lt; 0.55 / drift &lt; 0.18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Shape 27">
            <a:extLst>
              <a:ext uri="{FF2B5EF4-FFF2-40B4-BE49-F238E27FC236}">
                <a16:creationId xmlns:a16="http://schemas.microsoft.com/office/drawing/2014/main" id="{A74280CC-677D-9883-A609-5B016915B748}"/>
              </a:ext>
            </a:extLst>
          </p:cNvPr>
          <p:cNvSpPr/>
          <p:nvPr/>
        </p:nvSpPr>
        <p:spPr>
          <a:xfrm>
            <a:off x="3497362" y="380927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FF8E1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1EBB03A6-3760-9D2B-A23D-02FB81F0201F}"/>
              </a:ext>
            </a:extLst>
          </p:cNvPr>
          <p:cNvSpPr/>
          <p:nvPr/>
        </p:nvSpPr>
        <p:spPr>
          <a:xfrm>
            <a:off x="3619282" y="3931191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</a:t>
            </a:r>
            <a:endParaRPr lang="en-US" sz="18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C19E99AD-DC9A-7E08-A2FA-7C55A1F47E2D}"/>
              </a:ext>
            </a:extLst>
          </p:cNvPr>
          <p:cNvSpPr/>
          <p:nvPr/>
        </p:nvSpPr>
        <p:spPr>
          <a:xfrm>
            <a:off x="3477145" y="4345719"/>
            <a:ext cx="249693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high</a:t>
            </a:r>
            <a:r>
              <a:rPr lang="zh-TW" alt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Entropy low </a:t>
            </a:r>
          </a:p>
          <a:p>
            <a:r>
              <a:rPr lang="en-US" altLang="zh-TW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Drift high</a:t>
            </a:r>
            <a:endParaRPr lang="en-US" altLang="zh-TW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67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“High confidence with a sudden shift in inference trajectory”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682C16A7-97B4-B09E-2978-8758810AB26A}"/>
              </a:ext>
            </a:extLst>
          </p:cNvPr>
          <p:cNvSpPr/>
          <p:nvPr/>
        </p:nvSpPr>
        <p:spPr>
          <a:xfrm>
            <a:off x="3619282" y="5369847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&lt; 0.55 / drift ≥ 0.18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4CA8167C-B663-A045-D491-9CA22890E64C}"/>
              </a:ext>
            </a:extLst>
          </p:cNvPr>
          <p:cNvCxnSpPr>
            <a:cxnSpLocks/>
          </p:cNvCxnSpPr>
          <p:nvPr/>
        </p:nvCxnSpPr>
        <p:spPr>
          <a:xfrm flipV="1">
            <a:off x="817735" y="6026473"/>
            <a:ext cx="5320066" cy="14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 6">
            <a:extLst>
              <a:ext uri="{FF2B5EF4-FFF2-40B4-BE49-F238E27FC236}">
                <a16:creationId xmlns:a16="http://schemas.microsoft.com/office/drawing/2014/main" id="{01A1BE4D-D546-C002-AAA7-FA84F7F36F7C}"/>
              </a:ext>
            </a:extLst>
          </p:cNvPr>
          <p:cNvSpPr/>
          <p:nvPr/>
        </p:nvSpPr>
        <p:spPr>
          <a:xfrm>
            <a:off x="2264228" y="6245788"/>
            <a:ext cx="2340864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BA00D0C4-7333-B037-BF29-FBB6E9312140}"/>
              </a:ext>
            </a:extLst>
          </p:cNvPr>
          <p:cNvCxnSpPr>
            <a:cxnSpLocks/>
          </p:cNvCxnSpPr>
          <p:nvPr/>
        </p:nvCxnSpPr>
        <p:spPr>
          <a:xfrm flipV="1">
            <a:off x="813381" y="1499758"/>
            <a:ext cx="0" cy="454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 5">
            <a:extLst>
              <a:ext uri="{FF2B5EF4-FFF2-40B4-BE49-F238E27FC236}">
                <a16:creationId xmlns:a16="http://schemas.microsoft.com/office/drawing/2014/main" id="{E30CFFEC-AD2A-EBAD-36EE-E23238F080AF}"/>
              </a:ext>
            </a:extLst>
          </p:cNvPr>
          <p:cNvSpPr/>
          <p:nvPr/>
        </p:nvSpPr>
        <p:spPr>
          <a:xfrm>
            <a:off x="-171558" y="5814997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</a:t>
            </a:r>
            <a:r>
              <a:rPr lang="en-US" altLang="zh-TW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Margin High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B41442CD-EA37-2EC9-9168-03FEB9A4C607}"/>
              </a:ext>
            </a:extLst>
          </p:cNvPr>
          <p:cNvSpPr/>
          <p:nvPr/>
        </p:nvSpPr>
        <p:spPr>
          <a:xfrm>
            <a:off x="-148916" y="1701210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High</a:t>
            </a:r>
            <a:r>
              <a:rPr lang="en-US" altLang="zh-TW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Margin Low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82CD2D85-1E46-0DAF-13AC-2C34746CBDEC}"/>
              </a:ext>
            </a:extLst>
          </p:cNvPr>
          <p:cNvSpPr/>
          <p:nvPr/>
        </p:nvSpPr>
        <p:spPr>
          <a:xfrm>
            <a:off x="6684886" y="1675813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AECE7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Shape 15">
            <a:extLst>
              <a:ext uri="{FF2B5EF4-FFF2-40B4-BE49-F238E27FC236}">
                <a16:creationId xmlns:a16="http://schemas.microsoft.com/office/drawing/2014/main" id="{AC32EFD0-1B07-175D-840E-998F42FF470C}"/>
              </a:ext>
            </a:extLst>
          </p:cNvPr>
          <p:cNvSpPr/>
          <p:nvPr/>
        </p:nvSpPr>
        <p:spPr>
          <a:xfrm>
            <a:off x="9147670" y="1675813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CEAEA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Shape 21">
            <a:extLst>
              <a:ext uri="{FF2B5EF4-FFF2-40B4-BE49-F238E27FC236}">
                <a16:creationId xmlns:a16="http://schemas.microsoft.com/office/drawing/2014/main" id="{A949B329-5FA2-31BA-7D81-4920AF0FF49A}"/>
              </a:ext>
            </a:extLst>
          </p:cNvPr>
          <p:cNvSpPr/>
          <p:nvPr/>
        </p:nvSpPr>
        <p:spPr>
          <a:xfrm>
            <a:off x="6684886" y="377283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EAF3DE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A2DC77F1-8651-B776-42C2-C1DC2BFE51C5}"/>
              </a:ext>
            </a:extLst>
          </p:cNvPr>
          <p:cNvSpPr/>
          <p:nvPr/>
        </p:nvSpPr>
        <p:spPr>
          <a:xfrm>
            <a:off x="9147670" y="377283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FF8E1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Shape 23">
            <a:extLst>
              <a:ext uri="{FF2B5EF4-FFF2-40B4-BE49-F238E27FC236}">
                <a16:creationId xmlns:a16="http://schemas.microsoft.com/office/drawing/2014/main" id="{5ECFFF31-8F87-5C21-0754-1522DDE9E77D}"/>
              </a:ext>
            </a:extLst>
          </p:cNvPr>
          <p:cNvSpPr/>
          <p:nvPr/>
        </p:nvSpPr>
        <p:spPr>
          <a:xfrm>
            <a:off x="6879958" y="3925095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Q0</a:t>
            </a:r>
            <a:endParaRPr lang="zh-TW" altLang="en-US" sz="1867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CA0C3A8E-92F3-10FD-8A25-2C10E5943D55}"/>
              </a:ext>
            </a:extLst>
          </p:cNvPr>
          <p:cNvSpPr/>
          <p:nvPr/>
        </p:nvSpPr>
        <p:spPr>
          <a:xfrm>
            <a:off x="6879957" y="1823130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</a:t>
            </a:r>
            <a:endParaRPr lang="zh-TW" altLang="en-US" sz="1867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Shape 23">
            <a:extLst>
              <a:ext uri="{FF2B5EF4-FFF2-40B4-BE49-F238E27FC236}">
                <a16:creationId xmlns:a16="http://schemas.microsoft.com/office/drawing/2014/main" id="{A9799556-A52A-AD31-EA22-F033D06637B0}"/>
              </a:ext>
            </a:extLst>
          </p:cNvPr>
          <p:cNvSpPr/>
          <p:nvPr/>
        </p:nvSpPr>
        <p:spPr>
          <a:xfrm>
            <a:off x="9297831" y="3925095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FFC000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</a:t>
            </a:r>
            <a:endParaRPr lang="zh-TW" altLang="en-US" sz="1867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Shape 23">
            <a:extLst>
              <a:ext uri="{FF2B5EF4-FFF2-40B4-BE49-F238E27FC236}">
                <a16:creationId xmlns:a16="http://schemas.microsoft.com/office/drawing/2014/main" id="{3BF5F875-14C6-5B19-E072-38B44BB674AC}"/>
              </a:ext>
            </a:extLst>
          </p:cNvPr>
          <p:cNvSpPr/>
          <p:nvPr/>
        </p:nvSpPr>
        <p:spPr>
          <a:xfrm>
            <a:off x="9297830" y="1823130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</a:t>
            </a:r>
            <a:endParaRPr lang="zh-TW" altLang="en-US" sz="1867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Text 13">
            <a:extLst>
              <a:ext uri="{FF2B5EF4-FFF2-40B4-BE49-F238E27FC236}">
                <a16:creationId xmlns:a16="http://schemas.microsoft.com/office/drawing/2014/main" id="{7A7A197C-2A17-1432-F3B4-2BAE50EA0065}"/>
              </a:ext>
            </a:extLst>
          </p:cNvPr>
          <p:cNvSpPr/>
          <p:nvPr/>
        </p:nvSpPr>
        <p:spPr>
          <a:xfrm>
            <a:off x="6916534" y="4394487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risk: Allow direct output with zero latency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Text 13">
            <a:extLst>
              <a:ext uri="{FF2B5EF4-FFF2-40B4-BE49-F238E27FC236}">
                <a16:creationId xmlns:a16="http://schemas.microsoft.com/office/drawing/2014/main" id="{D4438576-1EE0-E4B8-56E5-CFF23EA9F8B6}"/>
              </a:ext>
            </a:extLst>
          </p:cNvPr>
          <p:cNvSpPr/>
          <p:nvPr/>
        </p:nvSpPr>
        <p:spPr>
          <a:xfrm>
            <a:off x="9399534" y="4345719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267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Moderate risk: Retrieve supplementary context before output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Text 13">
            <a:extLst>
              <a:ext uri="{FF2B5EF4-FFF2-40B4-BE49-F238E27FC236}">
                <a16:creationId xmlns:a16="http://schemas.microsoft.com/office/drawing/2014/main" id="{96C1F462-F905-9864-D5A9-95EA3432AB0C}"/>
              </a:ext>
            </a:extLst>
          </p:cNvPr>
          <p:cNvSpPr/>
          <p:nvPr/>
        </p:nvSpPr>
        <p:spPr>
          <a:xfrm>
            <a:off x="6916534" y="2301160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Human-Review</a:t>
            </a:r>
            <a:r>
              <a:rPr lang="zh-TW" altLang="en-US" sz="12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Text 13">
            <a:extLst>
              <a:ext uri="{FF2B5EF4-FFF2-40B4-BE49-F238E27FC236}">
                <a16:creationId xmlns:a16="http://schemas.microsoft.com/office/drawing/2014/main" id="{2749C480-ADAF-7556-BB9B-A9C0A6C44058}"/>
              </a:ext>
            </a:extLst>
          </p:cNvPr>
          <p:cNvSpPr/>
          <p:nvPr/>
        </p:nvSpPr>
        <p:spPr>
          <a:xfrm>
            <a:off x="9361465" y="2358770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risk: Block, log, and report to audit.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箭號: 向右 147">
            <a:extLst>
              <a:ext uri="{FF2B5EF4-FFF2-40B4-BE49-F238E27FC236}">
                <a16:creationId xmlns:a16="http://schemas.microsoft.com/office/drawing/2014/main" id="{E13B02EE-8B04-479B-D438-99D80F491735}"/>
              </a:ext>
            </a:extLst>
          </p:cNvPr>
          <p:cNvSpPr/>
          <p:nvPr/>
        </p:nvSpPr>
        <p:spPr>
          <a:xfrm>
            <a:off x="5970507" y="2900846"/>
            <a:ext cx="574944" cy="50204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Text 13">
            <a:extLst>
              <a:ext uri="{FF2B5EF4-FFF2-40B4-BE49-F238E27FC236}">
                <a16:creationId xmlns:a16="http://schemas.microsoft.com/office/drawing/2014/main" id="{9A754A91-3492-DF84-FFEB-5175CC6B0A94}"/>
              </a:ext>
            </a:extLst>
          </p:cNvPr>
          <p:cNvSpPr/>
          <p:nvPr/>
        </p:nvSpPr>
        <p:spPr>
          <a:xfrm>
            <a:off x="5777604" y="3620609"/>
            <a:ext cx="1058182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S0–S3 risk levels trigger Q0–Q3  routing for rapid response</a:t>
            </a:r>
          </a:p>
        </p:txBody>
      </p:sp>
    </p:spTree>
    <p:extLst>
      <p:ext uri="{BB962C8B-B14F-4D97-AF65-F5344CB8AC3E}">
        <p14:creationId xmlns:p14="http://schemas.microsoft.com/office/powerpoint/2010/main" val="188510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F4EC-53AE-740A-5D25-F1BABE7D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8A02881-E162-7BBC-A0C8-2432813B820F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</a:t>
            </a:r>
            <a:r>
              <a:rPr lang="zh-TW" altLang="en-US" sz="3200" dirty="0">
                <a:solidFill>
                  <a:srgbClr val="1F29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87619A3-AA57-1F7C-8BD5-D5F5D6E8E3D4}"/>
              </a:ext>
            </a:extLst>
          </p:cNvPr>
          <p:cNvSpPr txBox="1"/>
          <p:nvPr/>
        </p:nvSpPr>
        <p:spPr>
          <a:xfrm>
            <a:off x="502920" y="1156996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~40 banks, ~50 insurance companies, and other financial institutions (securities, leasing, etc.), estimated 5-year AI budget and AI Control Platform TAM are shown below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2BB623-3417-83C9-0C62-1D6095264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91379"/>
              </p:ext>
            </p:extLst>
          </p:nvPr>
        </p:nvGraphicFramePr>
        <p:xfrm>
          <a:off x="869678" y="1846235"/>
          <a:ext cx="6785156" cy="1189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95952">
                  <a:extLst>
                    <a:ext uri="{9D8B030D-6E8A-4147-A177-3AD203B41FA5}">
                      <a16:colId xmlns:a16="http://schemas.microsoft.com/office/drawing/2014/main" val="868330519"/>
                    </a:ext>
                  </a:extLst>
                </a:gridCol>
                <a:gridCol w="1695952">
                  <a:extLst>
                    <a:ext uri="{9D8B030D-6E8A-4147-A177-3AD203B41FA5}">
                      <a16:colId xmlns:a16="http://schemas.microsoft.com/office/drawing/2014/main" val="120149991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1101935259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3690294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Year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AI Budget (NTD)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Control Platform 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TAM (NTD)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9772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2026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13B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15%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1.95B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054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2027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18.5B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3.3B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600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2028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26.5B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22%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5.8B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015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2029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36B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9.4B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62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2030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49B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30%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14.7B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211262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CBE6014-B27D-A04F-BE99-17B49775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951249"/>
              </p:ext>
            </p:extLst>
          </p:nvPr>
        </p:nvGraphicFramePr>
        <p:xfrm>
          <a:off x="869678" y="3892909"/>
          <a:ext cx="6785156" cy="1189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95952">
                  <a:extLst>
                    <a:ext uri="{9D8B030D-6E8A-4147-A177-3AD203B41FA5}">
                      <a16:colId xmlns:a16="http://schemas.microsoft.com/office/drawing/2014/main" val="242435975"/>
                    </a:ext>
                  </a:extLst>
                </a:gridCol>
                <a:gridCol w="1695952">
                  <a:extLst>
                    <a:ext uri="{9D8B030D-6E8A-4147-A177-3AD203B41FA5}">
                      <a16:colId xmlns:a16="http://schemas.microsoft.com/office/drawing/2014/main" val="3857977906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4240518932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2780110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Year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AI Budget (USD)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Control Platform 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TAM (USD)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69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2026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15%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72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2027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10.8B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662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2028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22%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18.7B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10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2029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31.2B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35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2030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30%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49.5B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29461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1336B535-766B-65EF-B89B-AC028196F340}"/>
              </a:ext>
            </a:extLst>
          </p:cNvPr>
          <p:cNvSpPr txBox="1"/>
          <p:nvPr/>
        </p:nvSpPr>
        <p:spPr>
          <a:xfrm>
            <a:off x="502917" y="3192137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4,500+ banks, 4,500+ insurance companies, and major securities and asset management firms, the U.S. represents a significantly larger AI Control Platform TAM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8E25FD-E491-8A8A-A79F-93CBE6210473}"/>
              </a:ext>
            </a:extLst>
          </p:cNvPr>
          <p:cNvSpPr txBox="1"/>
          <p:nvPr/>
        </p:nvSpPr>
        <p:spPr>
          <a:xfrm>
            <a:off x="502916" y="5217263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Today, regulatory and security constraints limit AI adoption mainly to chat and research use cases, with AI Control Platform spending at ~15% of AI budgets. </a:t>
            </a: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As AI Agent adoption expands, AI Control Platform demand is expected to grow to ~30% of total AI spending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71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447A-1747-C161-EB8B-9CF33999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7567BFFF-7501-5F1C-B6D1-B2BA955EAD4F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zh-TW" sz="3200" dirty="0">
                <a:latin typeface="Calibri" panose="020F0502020204030204" pitchFamily="34" charset="0"/>
                <a:cs typeface="Calibri" panose="020F0502020204030204" pitchFamily="34" charset="0"/>
              </a:rPr>
              <a:t>Potential Customers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68DFC0-DB49-57D5-E57A-4C51E29059D0}"/>
              </a:ext>
            </a:extLst>
          </p:cNvPr>
          <p:cNvSpPr txBox="1"/>
          <p:nvPr/>
        </p:nvSpPr>
        <p:spPr>
          <a:xfrm>
            <a:off x="502920" y="1156996"/>
            <a:ext cx="106751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Customers :All financial institutions adopting AI systems are potential customers, including: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ecurities firm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nsurance companies</a:t>
            </a: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Other financial institution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Customers: Companies that help financial institutions implement AI systems: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System Integrators (SI)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Consulting firms (e.g., PwC, Deloitte)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Partners / Customers : Vendors providing other AI Control Platform modules, especially platform-level solution providers, may become potential partners or customers.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AI Governance : </a:t>
            </a:r>
            <a:r>
              <a:rPr lang="en-US" altLang="zh-TW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</a:t>
            </a: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</a:t>
            </a:r>
            <a:endParaRPr lang="zh-TW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Model Trust : Fiddler AI, Arize AI, WhyLabs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>
                <a:latin typeface="Calibri" panose="020F0502020204030204" pitchFamily="34" charset="0"/>
                <a:cs typeface="Calibri" panose="020F0502020204030204" pitchFamily="34" charset="0"/>
              </a:rPr>
              <a:t>AI Output Reliability : Guardrails, RAG Evaluation, LLM-as-a-Judge</a:t>
            </a:r>
          </a:p>
          <a:p>
            <a:pPr lvl="1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1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Founding Team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venture incubated as 15-Lab under J&amp;C Corporation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2693" y="1887051"/>
            <a:ext cx="2842260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203960" y="2167128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03960" y="21671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075" y="322309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Caleb Liu (</a:t>
            </a:r>
            <a:r>
              <a:rPr lang="en-US" sz="1600" b="1" dirty="0" err="1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劉棋華</a:t>
            </a: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075" y="373397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General Manager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1488" y="4153959"/>
            <a:ext cx="29083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RUNTIME TRUST / J&amp;C Corporation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yrs Director, Supply Chain Ops — HP Inc.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GM, Realwell Electronics — surgical robot AIO systems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MBA, Management of Technology —</a:t>
            </a:r>
          </a:p>
          <a:p>
            <a:pPr>
              <a:lnSpc>
                <a:spcPct val="110000"/>
              </a:lnSpc>
              <a:spcAft>
                <a:spcPts val="700"/>
              </a:spcAft>
              <a:buSzPct val="100000"/>
            </a:pPr>
            <a:r>
              <a:rPr lang="zh-TW" alt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Nat'l Chiao Tung Univ.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6141" y="1887051"/>
            <a:ext cx="2929890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271010" y="2177966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271010" y="217796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07291" y="3262545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Chou Shih-Chung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周世中</a:t>
            </a:r>
            <a:endParaRPr lang="en-US" altLang="zh-TW" sz="1600" b="1" dirty="0">
              <a:solidFill>
                <a:srgbClr val="1D2A3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4670" y="373888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90171" y="4160520"/>
            <a:ext cx="3078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yrs product development &amp; engineering mgmt.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— Chenming Electronic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Engineering Director (6+ yrs) — Ergotron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runs Taipei Vhood Electronic Technology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2874" y="1887051"/>
            <a:ext cx="2749337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369176" y="2193671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369176" y="21671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80360" y="3273383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Andrew Lu (盧元立)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5053" y="3699426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76480" y="4138422"/>
            <a:ext cx="3078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</a:t>
            </a:r>
            <a:r>
              <a:rPr lang="en-US" sz="1000" dirty="0" err="1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</a:t>
            </a: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management &amp; business mgmt. 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</a:t>
            </a:r>
            <a:r>
              <a:rPr lang="en-US" sz="1000" dirty="0" err="1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Mechavision</a:t>
            </a: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</a:p>
          <a:p>
            <a:pPr>
              <a:lnSpc>
                <a:spcPct val="110000"/>
              </a:lnSpc>
              <a:spcAft>
                <a:spcPts val="700"/>
              </a:spcAft>
              <a:buSzPct val="100000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tactile sensors for robots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 with Kawasaki, Denso, Fanuc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Manager, Indonesia — Garmin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SEA Sales — Aurotek</a:t>
            </a:r>
            <a:endParaRPr lang="en-US" sz="10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27E1896-8CE3-40B4-B596-92C8BF5B0881}"/>
              </a:ext>
            </a:extLst>
          </p:cNvPr>
          <p:cNvSpPr/>
          <p:nvPr/>
        </p:nvSpPr>
        <p:spPr>
          <a:xfrm>
            <a:off x="9349740" y="1887051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F1F8CD-E185-4154-9BCF-652D40B188C5}"/>
              </a:ext>
            </a:extLst>
          </p:cNvPr>
          <p:cNvSpPr/>
          <p:nvPr/>
        </p:nvSpPr>
        <p:spPr>
          <a:xfrm>
            <a:off x="9583209" y="3284221"/>
            <a:ext cx="2331720" cy="37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 Hsu (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許紓庭</a:t>
            </a: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46842C3-C2D2-46EF-BD5C-0114147C798D}"/>
              </a:ext>
            </a:extLst>
          </p:cNvPr>
          <p:cNvSpPr/>
          <p:nvPr/>
        </p:nvSpPr>
        <p:spPr>
          <a:xfrm>
            <a:off x="9498753" y="369282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D3A2A0E-28E2-413D-9DF5-98776008EAF9}"/>
              </a:ext>
            </a:extLst>
          </p:cNvPr>
          <p:cNvSpPr/>
          <p:nvPr/>
        </p:nvSpPr>
        <p:spPr>
          <a:xfrm>
            <a:off x="9498753" y="4155737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</a:t>
            </a:r>
            <a:r>
              <a:rPr lang="en-US" sz="1000" dirty="0" err="1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</a:t>
            </a: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business development and legal negotiation.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Assistant of BG GM -- </a:t>
            </a:r>
            <a:r>
              <a:rPr lang="en-US" sz="1000" dirty="0" err="1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Qisda</a:t>
            </a: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Corporation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Manager, Quanta Computer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Manager, Automotive &amp; Aerospace</a:t>
            </a:r>
            <a:endParaRPr lang="en-US" sz="10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CF49A8C-99E4-4CBC-906F-A52D527E88D0}"/>
              </a:ext>
            </a:extLst>
          </p:cNvPr>
          <p:cNvSpPr/>
          <p:nvPr/>
        </p:nvSpPr>
        <p:spPr>
          <a:xfrm>
            <a:off x="10243185" y="2223686"/>
            <a:ext cx="842857" cy="81212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6B963B5-BE32-494A-96EC-928300EB3AFB}"/>
              </a:ext>
            </a:extLst>
          </p:cNvPr>
          <p:cNvSpPr/>
          <p:nvPr/>
        </p:nvSpPr>
        <p:spPr>
          <a:xfrm>
            <a:off x="10264140" y="2257913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altLang="zh-TW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5062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Product &amp;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2-4 Launch Status: Technical Validation / PoC Stage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Not commercially launched yet; current proof points are technical validation metrics.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BB"/>
                </a:solidFill>
              </a:rPr>
              <a:t>18/18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real S3 items controlled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8036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8A62"/>
                </a:solidFill>
              </a:rPr>
              <a:t>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8036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leak rate under Fail-Closed test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BB"/>
                </a:solidFill>
              </a:rPr>
              <a:t>97.20ms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7492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P99 end-to-end latency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6800"/>
                </a:solidFill>
              </a:rPr>
              <a:t>18µs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6948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target Token Hook overhead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6404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8A62"/>
                </a:solidFill>
              </a:rPr>
              <a:t>Passed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46404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tamper test / append-only ledger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2926080"/>
            <a:ext cx="10332720" cy="0"/>
          </a:xfrm>
          <a:prstGeom prst="line">
            <a:avLst/>
          </a:prstGeom>
          <a:noFill/>
          <a:ln w="1651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Core capabilities are already validated: full S3 control coverage, zero leak testing, low-latency routing, and hash-chain tamper detection. The product is moving toward a validated PoC with the first regulated financial customer.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Revenue: none yet — first paid engagement expected after the 120-day pilot completes.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solidFill>
            <a:srgbClr val="F2F6FF"/>
          </a:solidFill>
          <a:ln>
            <a:solidFill>
              <a:srgbClr val="F2F6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Growth metrics: MAU / retention / MoM / YoY are not applicable before GA; validation KPIs are the current operating metrics.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Product &amp;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120-Day Roadmap to First Regulated Financial PoC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Convert validation evidence into procurement-ready criteria.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9875520" cy="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0–30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743200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Regression test set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Reason Codes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 fields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Procurement KPIs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30–70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429000"/>
            <a:ext cx="2743200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Shadow Mode beside existing workflow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Observe only, no production decisions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Re-test P99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Hash-chain tamper 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70–120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2743200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Run actual PoC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Validate Q2 / Q3 routing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Validate Action Lock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Prepare paid engagement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4DBB"/>
                </a:solidFill>
              </a:rPr>
              <a:t>Objective: reach a validated PoC that proves real-time risk routing, Action Lock, and tamper-proof auditability inside a regulated financial workflow.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Product &amp;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First Customers: Incubator-Led Regulated Market Entry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No cold outreach; the go-to-market path is based on trusted introductions and pilot packaging.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63040" y="3063240"/>
            <a:ext cx="9418320" cy="0"/>
          </a:xfrm>
          <a:prstGeom prst="line">
            <a:avLst/>
          </a:prstGeom>
          <a:noFill/>
          <a:ln w="20320">
            <a:solidFill>
              <a:srgbClr val="BCD2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Incubator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Trusted introductions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2 FIs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Pilot deployments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1 SI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Implementation path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8696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Demo 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6968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Data room + investors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Incubator helps translate validation KPIs into compliance-endorsed, procurement-ready language, provides private LLM / vLLM stress-test environments, and arranges customer and investor introductions.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596128"/>
            <a:ext cx="10332720" cy="512064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This path gets RUNTIME TRUST to regulated buyers more smoothly than direct sales.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Product &amp;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2-5 to 2-8 Expansion Fit: Finance First, Adjacent Markets Later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Current priority remains regulated finance; adjacent RFS categories are future expansion paths.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Manufacturing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Longer-term opportunity in precision sectors such as semiconductors and aerospace. Similar needs: quality control, traceability, auditability, and tamper-proof decisions.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Defense / Gov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Future opportunity in agencies and critical infrastructure where content inspection can expose classified data; decoding-layer risk signals avoid leaking underlying content.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On-Chain Banking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Natural next priority after traditional finance: AI-triggered on-chain transactions are irreversible, so decisions must be intercepted or verified before execution.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923544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PQC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35440" y="2212848"/>
            <a:ext cx="2468880" cy="3154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Not applicable. RUNTIME TRUST is not a post-quantum cryptography startup.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4DBB"/>
                </a:solidFill>
              </a:rPr>
              <a:t>Strategic message: prove the product in finance first, then port the control layer into adjacent high-assurance domains.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Product &amp;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On-Chain Banking: Why the Risk Bar Is Higher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AI decisions can trigger irreversible settlement, lending, or custody actions.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0241280" cy="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AI Decision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Risk signal appears at token decoding 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8A62"/>
                </a:solidFill>
              </a:rPr>
              <a:t>Runtime Trust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Intercept / flag before irreversible execution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On-chain Transaction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Final once executed; no undo path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7260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Audit Proof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7260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Hash-chain + WORM signing for third-party verification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Target extension: banks and fintechs issuing stablecoins or tokenized deposits, or enabling AI agents to execute on-chain settlement, lending, or custody actions.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897880"/>
            <a:ext cx="10149840" cy="4572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4DBB"/>
                </a:solidFill>
              </a:rPr>
              <a:t>Core thesis: prove to a third party that an AI-triggered decision was not tampered with precisely because the transaction cannot be undone.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3. Status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3-1 Why Build a Startup Now?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J&amp;C was created to build a business of its own and spin off RUNTIME TRUST as demand accelerates.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BB"/>
                </a:solidFill>
              </a:rPr>
              <a:t>2024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94560" y="17373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Like-minded partners came together to form the current team and launch a startup effort focused on the AI industry.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2514600"/>
            <a:ext cx="0" cy="224028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8A62"/>
                </a:solidFill>
              </a:rPr>
              <a:t>Now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94560" y="28163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Technical development revealed rapidly growing demand for AI-system oversight in financial institutions as AI applications spread.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6800"/>
                </a:solidFill>
              </a:rPr>
              <a:t>Next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4560" y="391363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Ideal timing to focus the team and bring RUNTIME TRUST to market as the AI Control Platform category expands.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10058400" cy="54864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The right moment combines internal readiness with external urgency in regulated AI oversight.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3. Status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3-2 How We Define Founder Success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Success is not valuation or exit; it is adoption, trust, and building an excellent company through our own effort.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Success means: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Build our own company and technology.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 the products we develop adopted by the market.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Run a small-but-excellent company well through our own efforts.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Have a bank compliance officer or CISO rely on RUNTIME TRUST to catch something other tools would miss.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10241280" cy="0"/>
          </a:xfrm>
          <a:prstGeom prst="line">
            <a:avLst/>
          </a:prstGeom>
          <a:noFill/>
          <a:ln w="1651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7A"/>
                </a:solidFill>
              </a:rPr>
              <a:t>Marker of success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669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A regulated customer actually depends on RUNTIME TRUST in production to prevent a high-risk AI decision from slipping through.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20777F-DED3-F05A-2FDC-535E319CDB6B}"/>
              </a:ext>
            </a:extLst>
          </p:cNvPr>
          <p:cNvSpPr txBox="1"/>
          <p:nvPr/>
        </p:nvSpPr>
        <p:spPr>
          <a:xfrm>
            <a:off x="4777274" y="2718700"/>
            <a:ext cx="44227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Thanks.</a:t>
            </a:r>
            <a:endParaRPr lang="zh-TW" altLang="en-US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actBox"/>
          <p:cNvSpPr txBox="1"/>
          <p:nvPr/>
        </p:nvSpPr>
        <p:spPr>
          <a:xfrm>
            <a:off x="3596640" y="4100000"/>
            <a:ext cx="499872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TW" sz="1600" b="1" dirty="0">
                <a:latin typeface="Calibri"/>
              </a:rPr>
              <a:t>Caleb Liu</a:t>
            </a:r>
            <a:r>
              <a:rPr lang="en-US" altLang="zh-TW" sz="1600" dirty="0">
                <a:latin typeface="Calibri"/>
              </a:rPr>
              <a:t>  |  Founder &amp; General Manager</a:t>
            </a:r>
          </a:p>
          <a:p>
            <a:pPr algn="ctr"/>
            <a:r>
              <a:rPr lang="en-US" altLang="zh-TW" sz="1400" dirty="0">
                <a:solidFill>
                  <a:srgbClr val="595959"/>
                </a:solidFill>
                <a:latin typeface="Calibri"/>
              </a:rPr>
              <a:t>RUNTIME TRUST</a:t>
            </a:r>
          </a:p>
        </p:txBody>
      </p:sp>
    </p:spTree>
    <p:extLst>
      <p:ext uri="{BB962C8B-B14F-4D97-AF65-F5344CB8AC3E}">
        <p14:creationId xmlns:p14="http://schemas.microsoft.com/office/powerpoint/2010/main" val="368938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2184</Words>
  <Application>Microsoft Macintosh PowerPoint</Application>
  <PresentationFormat>寬螢幕</PresentationFormat>
  <Paragraphs>321</Paragraphs>
  <Slides>17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RUNTIME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TRUST Product, Market &amp; Status Summary</dc:title>
  <dc:subject>RUNTIME TRUST AppWorks Application Summary</dc:subject>
  <dc:creator>OpenAI</dc:creator>
  <cp:lastModifiedBy>Tommy Liu</cp:lastModifiedBy>
  <cp:revision>12</cp:revision>
  <dcterms:created xsi:type="dcterms:W3CDTF">2026-07-17T01:02:21Z</dcterms:created>
  <dcterms:modified xsi:type="dcterms:W3CDTF">2026-07-18T12:38:54Z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ff6d80-3782-4df6-bf6c-659f84558040_Enabled">
    <vt:lpwstr>true</vt:lpwstr>
  </property>
  <property fmtid="{D5CDD505-2E9C-101B-9397-08002B2CF9AE}" pid="3" name="MSIP_Label_f3ff6d80-3782-4df6-bf6c-659f84558040_SetDate">
    <vt:lpwstr>2026-07-18T04:23:00Z</vt:lpwstr>
  </property>
  <property fmtid="{D5CDD505-2E9C-101B-9397-08002B2CF9AE}" pid="4" name="MSIP_Label_f3ff6d80-3782-4df6-bf6c-659f84558040_Method">
    <vt:lpwstr>Standard</vt:lpwstr>
  </property>
  <property fmtid="{D5CDD505-2E9C-101B-9397-08002B2CF9AE}" pid="5" name="MSIP_Label_f3ff6d80-3782-4df6-bf6c-659f84558040_Name">
    <vt:lpwstr>f3ff6d80-3782-4df6-bf6c-659f84558040</vt:lpwstr>
  </property>
  <property fmtid="{D5CDD505-2E9C-101B-9397-08002B2CF9AE}" pid="6" name="MSIP_Label_f3ff6d80-3782-4df6-bf6c-659f84558040_SiteId">
    <vt:lpwstr>38d0d425-ba52-4c0a-a03e-2a65c8e82e2d</vt:lpwstr>
  </property>
  <property fmtid="{D5CDD505-2E9C-101B-9397-08002B2CF9AE}" pid="7" name="MSIP_Label_f3ff6d80-3782-4df6-bf6c-659f84558040_ActionId">
    <vt:lpwstr>0c1fad48-a09b-48b6-b7ce-8ac045d1f756</vt:lpwstr>
  </property>
  <property fmtid="{D5CDD505-2E9C-101B-9397-08002B2CF9AE}" pid="8" name="MSIP_Label_f3ff6d80-3782-4df6-bf6c-659f84558040_ContentBits">
    <vt:lpwstr>0</vt:lpwstr>
  </property>
  <property fmtid="{D5CDD505-2E9C-101B-9397-08002B2CF9AE}" pid="9" name="MSIP_Label_f3ff6d80-3782-4df6-bf6c-659f84558040_Tag">
    <vt:lpwstr>10, 3, 0, 1</vt:lpwstr>
  </property>
</Properties>
</file>