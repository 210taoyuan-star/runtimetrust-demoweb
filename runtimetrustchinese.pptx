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4" r:id="rId3"/>
    <p:sldId id="266" r:id="rId4"/>
    <p:sldId id="270" r:id="rId5"/>
    <p:sldId id="269" r:id="rId6"/>
    <p:sldId id="271" r:id="rId7"/>
    <p:sldId id="276" r:id="rId8"/>
    <p:sldId id="275" r:id="rId9"/>
    <p:sldId id="267" r:id="rId10"/>
    <p:sldId id="272" r:id="rId11"/>
    <p:sldId id="274" r:id="rId12"/>
    <p:sldId id="257" r:id="rId13"/>
    <p:sldId id="258" r:id="rId14"/>
    <p:sldId id="259" r:id="rId15"/>
    <p:sldId id="260" r:id="rId16"/>
    <p:sldId id="261" r:id="rId17"/>
    <p:sldId id="262" r:id="rId18"/>
    <p:sldId id="26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7706"/>
    <a:srgbClr val="DC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84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8922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群組 10">
            <a:extLst>
              <a:ext uri="{FF2B5EF4-FFF2-40B4-BE49-F238E27FC236}">
                <a16:creationId xmlns:a16="http://schemas.microsoft.com/office/drawing/2014/main" id="{0DF3AC25-28E9-5BA3-EA3A-570661DB8D31}"/>
              </a:ext>
            </a:extLst>
          </p:cNvPr>
          <p:cNvGrpSpPr/>
          <p:nvPr userDrawn="1"/>
        </p:nvGrpSpPr>
        <p:grpSpPr>
          <a:xfrm>
            <a:off x="0" y="6530109"/>
            <a:ext cx="12192000" cy="369332"/>
            <a:chOff x="0" y="6530109"/>
            <a:chExt cx="12192000" cy="369332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DEFD4BF5-3226-47C6-19C4-3117F93BF6C1}"/>
                </a:ext>
              </a:extLst>
            </p:cNvPr>
            <p:cNvSpPr txBox="1"/>
            <p:nvPr userDrawn="1"/>
          </p:nvSpPr>
          <p:spPr>
            <a:xfrm>
              <a:off x="0" y="6530109"/>
              <a:ext cx="12192000" cy="369332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endParaRPr lang="zh-TW" altLang="en-US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9C8B592-9BA9-84FC-9041-545416B6DF7E}"/>
                </a:ext>
              </a:extLst>
            </p:cNvPr>
            <p:cNvSpPr txBox="1"/>
            <p:nvPr userDrawn="1"/>
          </p:nvSpPr>
          <p:spPr>
            <a:xfrm>
              <a:off x="10649527" y="6573191"/>
              <a:ext cx="15424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400" dirty="0">
                  <a:solidFill>
                    <a:schemeClr val="bg1"/>
                  </a:solidFill>
                </a:rPr>
                <a:t>RUMTIME TRUST</a:t>
              </a:r>
              <a:endParaRPr lang="zh-TW" altLang="en-US" sz="140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31429" y="1371601"/>
            <a:ext cx="12191695" cy="6858000"/>
          </a:xfrm>
          <a:prstGeom prst="rect">
            <a:avLst/>
          </a:prstGeom>
          <a:solidFill>
            <a:srgbClr val="F8FBFF"/>
          </a:solidFill>
          <a:ln w="12700">
            <a:solidFill>
              <a:srgbClr val="F8FB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8321040" y="182880"/>
            <a:ext cx="3566160" cy="3566160"/>
          </a:xfrm>
          <a:prstGeom prst="arc">
            <a:avLst/>
          </a:prstGeom>
          <a:solidFill>
            <a:srgbClr val="F8FBFF">
              <a:alpha val="0"/>
            </a:srgbClr>
          </a:solidFill>
          <a:ln w="25400">
            <a:solidFill>
              <a:srgbClr val="D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8869680" y="3703320"/>
            <a:ext cx="2834640" cy="2834640"/>
          </a:xfrm>
          <a:prstGeom prst="arc">
            <a:avLst/>
          </a:prstGeom>
          <a:solidFill>
            <a:srgbClr val="F8FBFF">
              <a:alpha val="0"/>
            </a:srgbClr>
          </a:solidFill>
          <a:ln w="25400">
            <a:solidFill>
              <a:srgbClr val="D4E6FF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4DBB"/>
                </a:solidFill>
              </a:rPr>
              <a:t>RUNTIME TRUST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AppWorks 申請摘要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746717"/>
            <a:ext cx="4023360" cy="0"/>
          </a:xfrm>
          <a:prstGeom prst="line">
            <a:avLst/>
          </a:prstGeom>
          <a:noFill/>
          <a:ln w="27940">
            <a:solidFill>
              <a:srgbClr val="0B4DBB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640080" y="2933115"/>
            <a:ext cx="5212080" cy="50292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在 Token 解碼層實現 AI 控制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3573195"/>
            <a:ext cx="5212080" cy="50292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即時路由 + 防竄改稽核</a:t>
            </a:r>
            <a:endParaRPr lang="en-US" sz="18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8D270287-55BE-39B6-391B-87641DE8989A}"/>
              </a:ext>
            </a:extLst>
          </p:cNvPr>
          <p:cNvSpPr/>
          <p:nvPr/>
        </p:nvSpPr>
        <p:spPr>
          <a:xfrm>
            <a:off x="640080" y="4293409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altLang="zh-TW" sz="1800" b="1" dirty="0"/>
              <a:t>Caleb Liu</a:t>
            </a:r>
            <a:r>
              <a:rPr lang="zh-TW" altLang="en-US" sz="1800" b="1" dirty="0"/>
              <a:t>   </a:t>
            </a:r>
            <a:r>
              <a:rPr lang="en-US" altLang="zh-TW" sz="1800" b="1" dirty="0"/>
              <a:t>2026 July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C2ACB125-2D29-BEB2-09B7-93317842F24D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800" dirty="0"/>
              <a:t>金融業導入</a:t>
            </a:r>
            <a:r>
              <a:rPr lang="en-US" altLang="zh-TW" sz="2800" dirty="0"/>
              <a:t>AI</a:t>
            </a:r>
            <a:r>
              <a:rPr lang="zh-TW" altLang="en-US" sz="2800" dirty="0"/>
              <a:t>系統的難題</a:t>
            </a:r>
            <a:endParaRPr 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94DB221-9BBA-1EA1-ED76-9FA9B99E9957}"/>
              </a:ext>
            </a:extLst>
          </p:cNvPr>
          <p:cNvSpPr txBox="1"/>
          <p:nvPr/>
        </p:nvSpPr>
        <p:spPr>
          <a:xfrm>
            <a:off x="502920" y="1156996"/>
            <a:ext cx="106751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金融業在導入</a:t>
            </a:r>
            <a:r>
              <a:rPr lang="en-US" altLang="zh-TW" dirty="0"/>
              <a:t>AI</a:t>
            </a:r>
            <a:r>
              <a:rPr lang="zh-TW" altLang="en-US" dirty="0"/>
              <a:t>系統時，會面臨幾個重大議題，諸如法規遵循（</a:t>
            </a:r>
            <a:r>
              <a:rPr lang="en-US" altLang="zh-TW" dirty="0"/>
              <a:t>Compliance</a:t>
            </a:r>
            <a:r>
              <a:rPr lang="zh-TW" altLang="en-US" dirty="0"/>
              <a:t>）、資料治理（</a:t>
            </a:r>
            <a:r>
              <a:rPr lang="en-US" altLang="zh-TW" dirty="0"/>
              <a:t>Data Governance</a:t>
            </a:r>
            <a:r>
              <a:rPr lang="zh-TW" altLang="en-US" dirty="0"/>
              <a:t>）、模型風險管理（</a:t>
            </a:r>
            <a:r>
              <a:rPr lang="en-US" altLang="zh-TW" dirty="0"/>
              <a:t>Model Risk Management, MRM</a:t>
            </a:r>
            <a:r>
              <a:rPr lang="zh-TW" altLang="en-US" dirty="0"/>
              <a:t>）以及資訊安全（</a:t>
            </a:r>
            <a:r>
              <a:rPr lang="en-US" altLang="zh-TW" dirty="0"/>
              <a:t>Cybersecurity</a:t>
            </a:r>
            <a:r>
              <a:rPr lang="zh-TW" altLang="en-US" dirty="0"/>
              <a:t>）。包含</a:t>
            </a:r>
            <a:r>
              <a:rPr lang="en-US" altLang="zh-TW" dirty="0"/>
              <a:t>: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/>
              <a:t>AI</a:t>
            </a:r>
            <a:r>
              <a:rPr lang="zh-TW" altLang="en-US" dirty="0"/>
              <a:t>法規 </a:t>
            </a:r>
            <a:r>
              <a:rPr lang="en-US" altLang="zh-TW" dirty="0"/>
              <a:t>: </a:t>
            </a:r>
            <a:r>
              <a:rPr lang="zh-TW" altLang="en-US" dirty="0"/>
              <a:t>歐盟 </a:t>
            </a:r>
            <a:r>
              <a:rPr lang="en-US" altLang="zh-TW" dirty="0"/>
              <a:t>AI act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en-US" dirty="0"/>
              <a:t>個資法</a:t>
            </a:r>
            <a:r>
              <a:rPr lang="en-US" altLang="zh-TW" dirty="0"/>
              <a:t>: </a:t>
            </a:r>
            <a:r>
              <a:rPr lang="zh-TW" altLang="en-US" dirty="0"/>
              <a:t>歐盟 </a:t>
            </a:r>
            <a:r>
              <a:rPr lang="en-US" altLang="zh-TW" dirty="0"/>
              <a:t>GDPR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/>
              <a:t>Explainability : </a:t>
            </a:r>
            <a:r>
              <a:rPr lang="zh-TW" altLang="en-US" dirty="0"/>
              <a:t>強制要求高風險</a:t>
            </a:r>
            <a:r>
              <a:rPr lang="en-US" altLang="zh-TW" dirty="0"/>
              <a:t>AI</a:t>
            </a:r>
            <a:r>
              <a:rPr lang="zh-TW" altLang="en-US" dirty="0"/>
              <a:t>具備可解釋性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/>
              <a:t>Logging: </a:t>
            </a:r>
            <a:r>
              <a:rPr lang="zh-TW" altLang="en-US" dirty="0"/>
              <a:t>紀錄完整的 </a:t>
            </a:r>
            <a:r>
              <a:rPr lang="en-US" altLang="zh-TW" dirty="0"/>
              <a:t>AI Event Timeline</a:t>
            </a:r>
            <a:r>
              <a:rPr lang="zh-TW" altLang="en-US" dirty="0"/>
              <a:t>（事件時間軸）與 </a:t>
            </a:r>
            <a:r>
              <a:rPr lang="en-US" altLang="zh-TW" dirty="0"/>
              <a:t>Decision Trace</a:t>
            </a:r>
            <a:r>
              <a:rPr lang="zh-TW" altLang="en-US" dirty="0"/>
              <a:t>（決策軌跡）。並且具有可重建能力。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92145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BC0F0-294B-98F4-0EAC-DEEF5570B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C8B79921-30BC-657C-DB89-A49146C1E7C2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2800" b="1" dirty="0">
                <a:solidFill>
                  <a:srgbClr val="1F2937"/>
                </a:solidFill>
              </a:rPr>
              <a:t>AI</a:t>
            </a:r>
            <a:r>
              <a:rPr lang="zh-TW" altLang="en-US" sz="2800" b="1" dirty="0">
                <a:solidFill>
                  <a:srgbClr val="1F2937"/>
                </a:solidFill>
              </a:rPr>
              <a:t> </a:t>
            </a:r>
            <a:r>
              <a:rPr lang="en-US" altLang="zh-TW" sz="2800" b="1" dirty="0">
                <a:solidFill>
                  <a:srgbClr val="1F2937"/>
                </a:solidFill>
              </a:rPr>
              <a:t>Control Platform</a:t>
            </a:r>
            <a:endParaRPr lang="en-US" sz="2800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17CF310-AEE2-1DF5-FD13-64719D1E38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371551"/>
              </p:ext>
            </p:extLst>
          </p:nvPr>
        </p:nvGraphicFramePr>
        <p:xfrm>
          <a:off x="617687" y="2111894"/>
          <a:ext cx="10789919" cy="38465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6906">
                  <a:extLst>
                    <a:ext uri="{9D8B030D-6E8A-4147-A177-3AD203B41FA5}">
                      <a16:colId xmlns:a16="http://schemas.microsoft.com/office/drawing/2014/main" val="2941010776"/>
                    </a:ext>
                  </a:extLst>
                </a:gridCol>
                <a:gridCol w="2575138">
                  <a:extLst>
                    <a:ext uri="{9D8B030D-6E8A-4147-A177-3AD203B41FA5}">
                      <a16:colId xmlns:a16="http://schemas.microsoft.com/office/drawing/2014/main" val="1771684428"/>
                    </a:ext>
                  </a:extLst>
                </a:gridCol>
                <a:gridCol w="2723879">
                  <a:extLst>
                    <a:ext uri="{9D8B030D-6E8A-4147-A177-3AD203B41FA5}">
                      <a16:colId xmlns:a16="http://schemas.microsoft.com/office/drawing/2014/main" val="1565352011"/>
                    </a:ext>
                  </a:extLst>
                </a:gridCol>
                <a:gridCol w="3403996">
                  <a:extLst>
                    <a:ext uri="{9D8B030D-6E8A-4147-A177-3AD203B41FA5}">
                      <a16:colId xmlns:a16="http://schemas.microsoft.com/office/drawing/2014/main" val="8114556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六大模組 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模組目的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可能使用的技術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代表產品/技術(競爭者)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5107440"/>
                  </a:ext>
                </a:extLst>
              </a:tr>
              <a:tr h="9842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 Governance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 是否符合公司治理與法規？</a:t>
                      </a:r>
                      <a:b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 能不能用？在哪裡用？誰負責？</a:t>
                      </a:r>
                      <a:b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管理整個AI系統而不是模型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Policy Engine、Human Review、Workflow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Microsoft AI Foundry Governance、IBM watsonx.governance、Google Cloud AI Governance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8193259"/>
                  </a:ext>
                </a:extLst>
              </a:tr>
              <a:tr h="4013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 Trust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模型本身可信嗎？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XAI、Calibration、Model Monitoring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Fiddler AI、Arize AI、WhyLabs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7246220"/>
                  </a:ext>
                </a:extLst>
              </a:tr>
              <a:tr h="5721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 Output Reliability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這次回答可信嗎？</a:t>
                      </a:r>
                      <a:b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避免 AI 一本正經地說錯話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RAG、Hallucination Detection、Confidence Score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Guardrails、RAG Evaluation、LLM-as-a-Judge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102017"/>
                  </a:ext>
                </a:extLst>
              </a:tr>
              <a:tr h="53467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Data Protection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資料是否安全？</a:t>
                      </a:r>
                      <a:b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資料有沒有外洩？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DLP、PII Detection、Guardrails、Encryption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WitnessAI、Microsoft Purview、Guardrails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5771368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Logging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事後能否完整追溯？重建整個 AI 決策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Enterprise Logging、SIEM、Decision Trace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Splunk、Elastic、Datadog、Azure Monitor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77328302"/>
                  </a:ext>
                </a:extLst>
              </a:tr>
              <a:tr h="6045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Identity &amp; Access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誰可以使用 AI？</a:t>
                      </a:r>
                      <a:b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</a:b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AI 又可以存取哪些資料與工具？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　</a:t>
                      </a:r>
                      <a:endParaRPr lang="zh-TW" sz="12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API Gateway、Microsoft Entra、Okta、CyberArk</a:t>
                      </a:r>
                      <a:endParaRPr lang="zh-TW" sz="12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9412874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48BF5D9-DC6F-A997-B2AE-F41B846F463C}"/>
              </a:ext>
            </a:extLst>
          </p:cNvPr>
          <p:cNvSpPr txBox="1"/>
          <p:nvPr/>
        </p:nvSpPr>
        <p:spPr>
          <a:xfrm>
            <a:off x="560303" y="1174938"/>
            <a:ext cx="10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這些問題和解決方案可分為六大模組，各自由不同的供應商提供技術產品，大型金融機構則會把這些能力整合為</a:t>
            </a:r>
            <a:r>
              <a:rPr lang="en-US" altLang="zh-TW" dirty="0"/>
              <a:t>AI Control Platform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35173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828F2-13D2-16FB-CE5D-FD52F9017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F452BF73-63C4-C0EE-D9E4-4986C5A8388D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800" dirty="0"/>
              <a:t>Input/Output 層的 </a:t>
            </a:r>
            <a:r>
              <a:rPr lang="en-US" altLang="zh-TW" sz="2800" dirty="0"/>
              <a:t>AI</a:t>
            </a:r>
            <a:r>
              <a:rPr lang="zh-TW" altLang="en-US" sz="2800" dirty="0"/>
              <a:t> 安全挑戰</a:t>
            </a:r>
            <a:endParaRPr lang="en-US" sz="28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1E6F299-94E2-A8D2-0B60-76EDF221727E}"/>
              </a:ext>
            </a:extLst>
          </p:cNvPr>
          <p:cNvSpPr txBox="1"/>
          <p:nvPr/>
        </p:nvSpPr>
        <p:spPr>
          <a:xfrm>
            <a:off x="502920" y="1156996"/>
            <a:ext cx="10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在 </a:t>
            </a:r>
            <a:r>
              <a:rPr lang="en-US" altLang="zh-TW" dirty="0"/>
              <a:t>AI Security </a:t>
            </a:r>
            <a:r>
              <a:rPr lang="zh-TW" altLang="en-US" dirty="0"/>
              <a:t>的 </a:t>
            </a:r>
            <a:r>
              <a:rPr lang="en-US" altLang="zh-TW" dirty="0"/>
              <a:t>Input/Output </a:t>
            </a:r>
            <a:r>
              <a:rPr lang="zh-TW" altLang="en-US" dirty="0"/>
              <a:t>層面，面臨與文字輸入、語意理解及生成內容相關的安全挑戰。目前需透過 </a:t>
            </a:r>
            <a:r>
              <a:rPr lang="en-US" altLang="zh-TW" dirty="0"/>
              <a:t>Prompt Firewall</a:t>
            </a:r>
            <a:r>
              <a:rPr lang="zh-TW" altLang="en-US" dirty="0"/>
              <a:t>、</a:t>
            </a:r>
            <a:r>
              <a:rPr lang="en-US" altLang="zh-TW" dirty="0"/>
              <a:t>AI Guardrails</a:t>
            </a:r>
            <a:r>
              <a:rPr lang="zh-TW" altLang="en-US" dirty="0"/>
              <a:t>、</a:t>
            </a:r>
            <a:r>
              <a:rPr lang="en-US" altLang="zh-TW" dirty="0"/>
              <a:t>RAG Database </a:t>
            </a:r>
            <a:r>
              <a:rPr lang="zh-TW" altLang="en-US" dirty="0"/>
              <a:t>檢核及 </a:t>
            </a:r>
            <a:r>
              <a:rPr lang="en-US" altLang="zh-TW" dirty="0"/>
              <a:t>Human Review </a:t>
            </a:r>
            <a:r>
              <a:rPr lang="zh-TW" altLang="en-US" dirty="0"/>
              <a:t>等多層防護機制，確保 </a:t>
            </a:r>
            <a:r>
              <a:rPr lang="en-US" altLang="zh-TW" dirty="0"/>
              <a:t>AI </a:t>
            </a:r>
            <a:r>
              <a:rPr lang="zh-TW" altLang="en-US" dirty="0"/>
              <a:t>系統輸入與輸出的安全與可信度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D558E0B-4B8A-EB6E-513B-67BB22E7E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049192"/>
              </p:ext>
            </p:extLst>
          </p:nvPr>
        </p:nvGraphicFramePr>
        <p:xfrm>
          <a:off x="783667" y="2336517"/>
          <a:ext cx="10228425" cy="20806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09475">
                  <a:extLst>
                    <a:ext uri="{9D8B030D-6E8A-4147-A177-3AD203B41FA5}">
                      <a16:colId xmlns:a16="http://schemas.microsoft.com/office/drawing/2014/main" val="130151047"/>
                    </a:ext>
                  </a:extLst>
                </a:gridCol>
                <a:gridCol w="3409475">
                  <a:extLst>
                    <a:ext uri="{9D8B030D-6E8A-4147-A177-3AD203B41FA5}">
                      <a16:colId xmlns:a16="http://schemas.microsoft.com/office/drawing/2014/main" val="591924678"/>
                    </a:ext>
                  </a:extLst>
                </a:gridCol>
                <a:gridCol w="3409475">
                  <a:extLst>
                    <a:ext uri="{9D8B030D-6E8A-4147-A177-3AD203B41FA5}">
                      <a16:colId xmlns:a16="http://schemas.microsoft.com/office/drawing/2014/main" val="655045032"/>
                    </a:ext>
                  </a:extLst>
                </a:gridCol>
              </a:tblGrid>
              <a:tr h="5186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Pipeline </a:t>
                      </a:r>
                      <a:r>
                        <a:rPr lang="zh-TW" sz="1400" b="1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階段</a:t>
                      </a:r>
                      <a:endParaRPr lang="zh-TW" sz="14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400" b="1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代表風險</a:t>
                      </a:r>
                      <a:endParaRPr lang="zh-TW" sz="14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Control Platform 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負責模組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3211787"/>
                  </a:ext>
                </a:extLst>
              </a:tr>
              <a:tr h="5195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Input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（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）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 Injection</a:t>
                      </a:r>
                      <a:r>
                        <a:rPr lang="zh-TW" sz="140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Jailbreak</a:t>
                      </a:r>
                      <a:r>
                        <a:rPr lang="zh-TW" sz="140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Prompt Leakage</a:t>
                      </a:r>
                      <a:endParaRPr lang="zh-TW" sz="14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AI Security + Guardrails + Data Protection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2340454"/>
                  </a:ext>
                </a:extLst>
              </a:tr>
              <a:tr h="5212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Knowledge / Model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（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Embedding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 DB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LLM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）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Poisoning</a:t>
                      </a:r>
                      <a:r>
                        <a:rPr lang="zh-TW" sz="14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Training Data Poisoning</a:t>
                      </a:r>
                      <a:r>
                        <a:rPr lang="zh-TW" sz="14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Vector DB Poisoning</a:t>
                      </a:r>
                      <a:r>
                        <a:rPr lang="zh-TW" sz="1400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</a:t>
                      </a:r>
                      <a:r>
                        <a:rPr lang="en-US" sz="14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Drift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Model Trust + AI Governance + Data Protection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271477"/>
                  </a:ext>
                </a:extLst>
              </a:tr>
              <a:tr h="52121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（</a:t>
                      </a: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Response</a:t>
                      </a:r>
                      <a:r>
                        <a:rPr lang="zh-TW" sz="1400" b="1" dirty="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）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Hallucination</a:t>
                      </a:r>
                      <a:r>
                        <a:rPr lang="zh-TW" sz="1400">
                          <a:effectLst/>
                          <a:latin typeface="Calibri" panose="020F0502020204030204" pitchFamily="34" charset="0"/>
                          <a:ea typeface="新細明體" panose="02020500000000000000" pitchFamily="18" charset="-120"/>
                          <a:cs typeface="Calibri" panose="020F0502020204030204" pitchFamily="34" charset="0"/>
                        </a:rPr>
                        <a:t>、錯誤引用、低可信度、政策違規輸出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400" b="1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Output Reliability + Guardrails + Human Review</a:t>
                      </a:r>
                      <a:endParaRPr lang="zh-TW" sz="14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Calibri" panose="020F0502020204030204" pitchFamily="34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55199075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52685C3A-8834-0A56-0576-CFF2008FC6BD}"/>
              </a:ext>
            </a:extLst>
          </p:cNvPr>
          <p:cNvSpPr txBox="1"/>
          <p:nvPr/>
        </p:nvSpPr>
        <p:spPr>
          <a:xfrm>
            <a:off x="502920" y="4679904"/>
            <a:ext cx="1067515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>
                <a:solidFill>
                  <a:srgbClr val="FF0000"/>
                </a:solidFill>
              </a:rPr>
              <a:t>目前與文字、語意相關的挑戰是必須依賴</a:t>
            </a:r>
            <a:r>
              <a:rPr lang="en-US" altLang="zh-TW" dirty="0">
                <a:solidFill>
                  <a:srgbClr val="FF0000"/>
                </a:solidFill>
              </a:rPr>
              <a:t>prompt firewall</a:t>
            </a:r>
            <a:r>
              <a:rPr lang="zh-TW" altLang="en-US" dirty="0">
                <a:solidFill>
                  <a:srgbClr val="FF0000"/>
                </a:solidFill>
              </a:rPr>
              <a:t>、</a:t>
            </a:r>
            <a:r>
              <a:rPr lang="en-US" altLang="zh-TW" dirty="0">
                <a:solidFill>
                  <a:srgbClr val="FF0000"/>
                </a:solidFill>
              </a:rPr>
              <a:t>Guardrails RAG database</a:t>
            </a:r>
            <a:r>
              <a:rPr lang="zh-TW" altLang="en-US" dirty="0">
                <a:solidFill>
                  <a:srgbClr val="FF0000"/>
                </a:solidFill>
              </a:rPr>
              <a:t>檢查或是</a:t>
            </a:r>
            <a:r>
              <a:rPr lang="en-US" altLang="zh-TW" dirty="0">
                <a:solidFill>
                  <a:srgbClr val="FF0000"/>
                </a:solidFill>
              </a:rPr>
              <a:t>Human Review</a:t>
            </a:r>
            <a:r>
              <a:rPr lang="zh-TW" altLang="en-US" dirty="0">
                <a:solidFill>
                  <a:srgbClr val="FF0000"/>
                </a:solidFill>
              </a:rPr>
              <a:t>等方式處理</a:t>
            </a:r>
            <a:endParaRPr lang="en-US" altLang="zh-TW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>
                <a:solidFill>
                  <a:srgbClr val="FF0000"/>
                </a:solidFill>
              </a:rPr>
              <a:t>Runtime Trust </a:t>
            </a:r>
            <a:r>
              <a:rPr lang="zh-TW" altLang="en-US" dirty="0">
                <a:solidFill>
                  <a:srgbClr val="FF0000"/>
                </a:solidFill>
              </a:rPr>
              <a:t>提出的解決方案，是以數學演算法的方式真正解決</a:t>
            </a:r>
            <a:r>
              <a:rPr lang="en-US" altLang="zh-TW" dirty="0">
                <a:solidFill>
                  <a:srgbClr val="FF0000"/>
                </a:solidFill>
              </a:rPr>
              <a:t>prompt</a:t>
            </a:r>
            <a:r>
              <a:rPr lang="zh-TW" altLang="en-US" dirty="0">
                <a:solidFill>
                  <a:srgbClr val="FF0000"/>
                </a:solidFill>
              </a:rPr>
              <a:t>難以分類的問題</a:t>
            </a:r>
            <a:endParaRPr lang="en-US" altLang="zh-TW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n"/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60718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F38DC-6BDD-3AE4-1E17-AF903D65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20FE7FBF-2FE3-9352-1DA7-419EF3EAB348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RUNTIME TRUST Solution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C1E2CDD-1318-13D3-BE8C-6CBD6E7A9232}"/>
              </a:ext>
            </a:extLst>
          </p:cNvPr>
          <p:cNvSpPr txBox="1"/>
          <p:nvPr/>
        </p:nvSpPr>
        <p:spPr>
          <a:xfrm>
            <a:off x="502920" y="1156996"/>
            <a:ext cx="10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RUNTIME</a:t>
            </a:r>
            <a:r>
              <a:rPr lang="zh-TW" altLang="en-US" dirty="0"/>
              <a:t> </a:t>
            </a:r>
            <a:r>
              <a:rPr lang="en-US" altLang="zh-TW" dirty="0"/>
              <a:t>TRUST</a:t>
            </a:r>
            <a:r>
              <a:rPr lang="zh-TW" altLang="en-US" dirty="0"/>
              <a:t> 藉由在</a:t>
            </a:r>
            <a:r>
              <a:rPr lang="en-US" altLang="zh-TW" dirty="0"/>
              <a:t>Token</a:t>
            </a:r>
            <a:r>
              <a:rPr lang="zh-TW" altLang="en-US" dirty="0"/>
              <a:t>解碼層擷取</a:t>
            </a:r>
            <a:r>
              <a:rPr lang="en-US" altLang="zh-TW" dirty="0"/>
              <a:t>margin</a:t>
            </a:r>
            <a:r>
              <a:rPr lang="zh-TW" altLang="en-US" dirty="0"/>
              <a:t>、</a:t>
            </a:r>
            <a:r>
              <a:rPr lang="en-US" altLang="zh-TW" dirty="0"/>
              <a:t>entropy</a:t>
            </a:r>
            <a:r>
              <a:rPr lang="zh-TW" altLang="en-US" dirty="0"/>
              <a:t>、</a:t>
            </a:r>
            <a:r>
              <a:rPr lang="en-US" altLang="zh-TW" dirty="0"/>
              <a:t>drift</a:t>
            </a:r>
            <a:r>
              <a:rPr lang="zh-TW" altLang="en-US" dirty="0"/>
              <a:t>、</a:t>
            </a:r>
            <a:r>
              <a:rPr lang="en-US" altLang="zh-TW" dirty="0"/>
              <a:t>volatility</a:t>
            </a:r>
            <a:r>
              <a:rPr lang="zh-TW" altLang="en-US" dirty="0"/>
              <a:t>四個向量幾何特徵，並且由這四個維度演算進行風險分類以及觸發路由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BCE9A5D6-D403-7B09-6D98-3AF291150AB8}"/>
              </a:ext>
            </a:extLst>
          </p:cNvPr>
          <p:cNvSpPr/>
          <p:nvPr/>
        </p:nvSpPr>
        <p:spPr>
          <a:xfrm>
            <a:off x="10728960" y="6522720"/>
            <a:ext cx="121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200" dirty="0"/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FA1FC10F-4FE1-00CD-4E0D-70FB5EE315DE}"/>
              </a:ext>
            </a:extLst>
          </p:cNvPr>
          <p:cNvGrpSpPr/>
          <p:nvPr/>
        </p:nvGrpSpPr>
        <p:grpSpPr>
          <a:xfrm>
            <a:off x="463296" y="2169243"/>
            <a:ext cx="2657856" cy="3415626"/>
            <a:chOff x="463296" y="1706880"/>
            <a:chExt cx="2657856" cy="3415626"/>
          </a:xfrm>
        </p:grpSpPr>
        <p:sp>
          <p:nvSpPr>
            <p:cNvPr id="10" name="Shape 5">
              <a:extLst>
                <a:ext uri="{FF2B5EF4-FFF2-40B4-BE49-F238E27FC236}">
                  <a16:creationId xmlns:a16="http://schemas.microsoft.com/office/drawing/2014/main" id="{83F1FB20-C2ED-0D2B-3A17-F7A80480325B}"/>
                </a:ext>
              </a:extLst>
            </p:cNvPr>
            <p:cNvSpPr/>
            <p:nvPr/>
          </p:nvSpPr>
          <p:spPr>
            <a:xfrm>
              <a:off x="463296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EBF3FF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12" name="Shape 6">
              <a:extLst>
                <a:ext uri="{FF2B5EF4-FFF2-40B4-BE49-F238E27FC236}">
                  <a16:creationId xmlns:a16="http://schemas.microsoft.com/office/drawing/2014/main" id="{17CF02FE-5DD4-0621-E5BD-9869E0E97694}"/>
                </a:ext>
              </a:extLst>
            </p:cNvPr>
            <p:cNvSpPr/>
            <p:nvPr/>
          </p:nvSpPr>
          <p:spPr>
            <a:xfrm>
              <a:off x="609600" y="1828800"/>
              <a:ext cx="536448" cy="536448"/>
            </a:xfrm>
            <a:prstGeom prst="ellipse">
              <a:avLst/>
            </a:prstGeom>
            <a:solidFill>
              <a:srgbClr val="1E4FD8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14" name="Text 7">
              <a:extLst>
                <a:ext uri="{FF2B5EF4-FFF2-40B4-BE49-F238E27FC236}">
                  <a16:creationId xmlns:a16="http://schemas.microsoft.com/office/drawing/2014/main" id="{A791B0B4-5602-4E40-D77B-2221D8B1169D}"/>
                </a:ext>
              </a:extLst>
            </p:cNvPr>
            <p:cNvSpPr/>
            <p:nvPr/>
          </p:nvSpPr>
          <p:spPr>
            <a:xfrm>
              <a:off x="609600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M</a:t>
              </a:r>
              <a:endParaRPr lang="en-US" sz="2133" dirty="0"/>
            </a:p>
          </p:txBody>
        </p:sp>
        <p:sp>
          <p:nvSpPr>
            <p:cNvPr id="16" name="Text 8">
              <a:extLst>
                <a:ext uri="{FF2B5EF4-FFF2-40B4-BE49-F238E27FC236}">
                  <a16:creationId xmlns:a16="http://schemas.microsoft.com/office/drawing/2014/main" id="{95E5F63E-1B54-F2A3-A35F-5A07E1A6C817}"/>
                </a:ext>
              </a:extLst>
            </p:cNvPr>
            <p:cNvSpPr/>
            <p:nvPr/>
          </p:nvSpPr>
          <p:spPr>
            <a:xfrm>
              <a:off x="1219200" y="1828800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</a:t>
              </a:r>
              <a:endParaRPr lang="en-US" sz="1733" dirty="0"/>
            </a:p>
          </p:txBody>
        </p:sp>
        <p:sp>
          <p:nvSpPr>
            <p:cNvPr id="18" name="Text 9">
              <a:extLst>
                <a:ext uri="{FF2B5EF4-FFF2-40B4-BE49-F238E27FC236}">
                  <a16:creationId xmlns:a16="http://schemas.microsoft.com/office/drawing/2014/main" id="{3D5A2A58-659E-0066-2CAC-124AD6E98B99}"/>
                </a:ext>
              </a:extLst>
            </p:cNvPr>
            <p:cNvSpPr/>
            <p:nvPr/>
          </p:nvSpPr>
          <p:spPr>
            <a:xfrm>
              <a:off x="1219200" y="2109216"/>
              <a:ext cx="17800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1E4F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確信度</a:t>
              </a:r>
              <a:endParaRPr lang="en-US" sz="1333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58F07BF7-0135-17D5-3BD7-775C9B2AE790}"/>
                </a:ext>
              </a:extLst>
            </p:cNvPr>
            <p:cNvSpPr/>
            <p:nvPr/>
          </p:nvSpPr>
          <p:spPr>
            <a:xfrm>
              <a:off x="609600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22" name="Text 11">
              <a:extLst>
                <a:ext uri="{FF2B5EF4-FFF2-40B4-BE49-F238E27FC236}">
                  <a16:creationId xmlns:a16="http://schemas.microsoft.com/office/drawing/2014/main" id="{24498290-9DEA-3445-FD63-E3D6333A5E80}"/>
                </a:ext>
              </a:extLst>
            </p:cNvPr>
            <p:cNvSpPr/>
            <p:nvPr/>
          </p:nvSpPr>
          <p:spPr>
            <a:xfrm>
              <a:off x="609600" y="2487168"/>
              <a:ext cx="2389632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top-1 與 top-2 token 的機率差</a:t>
              </a:r>
              <a:endParaRPr lang="en-US" sz="1200" dirty="0"/>
            </a:p>
          </p:txBody>
        </p:sp>
        <p:sp>
          <p:nvSpPr>
            <p:cNvPr id="24" name="Text 12">
              <a:extLst>
                <a:ext uri="{FF2B5EF4-FFF2-40B4-BE49-F238E27FC236}">
                  <a16:creationId xmlns:a16="http://schemas.microsoft.com/office/drawing/2014/main" id="{4A66465B-1D79-0D92-F850-D161E7ACD071}"/>
                </a:ext>
              </a:extLst>
            </p:cNvPr>
            <p:cNvSpPr/>
            <p:nvPr/>
          </p:nvSpPr>
          <p:spPr>
            <a:xfrm>
              <a:off x="609600" y="2974848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高：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模型非常確定，推論穩定</a:t>
              </a:r>
              <a:endParaRPr lang="en-US" sz="1133" dirty="0"/>
            </a:p>
          </p:txBody>
        </p:sp>
        <p:sp>
          <p:nvSpPr>
            <p:cNvPr id="26" name="Text 13">
              <a:extLst>
                <a:ext uri="{FF2B5EF4-FFF2-40B4-BE49-F238E27FC236}">
                  <a16:creationId xmlns:a16="http://schemas.microsoft.com/office/drawing/2014/main" id="{46B14957-17AB-9B53-53CC-59323D47414A}"/>
                </a:ext>
              </a:extLst>
            </p:cNvPr>
            <p:cNvSpPr/>
            <p:nvPr/>
          </p:nvSpPr>
          <p:spPr>
            <a:xfrm>
              <a:off x="609600" y="3413760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低：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模型在候選間猶豫，易被操控</a:t>
              </a:r>
              <a:endParaRPr lang="en-US" sz="1133" dirty="0"/>
            </a:p>
          </p:txBody>
        </p:sp>
        <p:sp>
          <p:nvSpPr>
            <p:cNvPr id="28" name="Shape 14">
              <a:extLst>
                <a:ext uri="{FF2B5EF4-FFF2-40B4-BE49-F238E27FC236}">
                  <a16:creationId xmlns:a16="http://schemas.microsoft.com/office/drawing/2014/main" id="{9FEB6896-86B7-4769-D767-4984CEE58868}"/>
                </a:ext>
              </a:extLst>
            </p:cNvPr>
            <p:cNvSpPr/>
            <p:nvPr/>
          </p:nvSpPr>
          <p:spPr>
            <a:xfrm>
              <a:off x="609600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30" name="Text 15">
              <a:extLst>
                <a:ext uri="{FF2B5EF4-FFF2-40B4-BE49-F238E27FC236}">
                  <a16:creationId xmlns:a16="http://schemas.microsoft.com/office/drawing/2014/main" id="{B707F486-73DD-1FFE-941C-5EC946F9E19F}"/>
                </a:ext>
              </a:extLst>
            </p:cNvPr>
            <p:cNvSpPr/>
            <p:nvPr/>
          </p:nvSpPr>
          <p:spPr>
            <a:xfrm>
              <a:off x="609600" y="3925824"/>
              <a:ext cx="2389632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1E4FD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Margin 過低 → 與 Entropy 聯合觸發 S1</a:t>
              </a:r>
              <a:endParaRPr lang="en-US" sz="1133" dirty="0"/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B5010D94-8ECD-164D-F7B3-B9F5C8508113}"/>
              </a:ext>
            </a:extLst>
          </p:cNvPr>
          <p:cNvGrpSpPr/>
          <p:nvPr/>
        </p:nvGrpSpPr>
        <p:grpSpPr>
          <a:xfrm>
            <a:off x="3316224" y="2169243"/>
            <a:ext cx="2657856" cy="3415626"/>
            <a:chOff x="3316224" y="1706880"/>
            <a:chExt cx="2657856" cy="3415626"/>
          </a:xfrm>
        </p:grpSpPr>
        <p:sp>
          <p:nvSpPr>
            <p:cNvPr id="34" name="Shape 17">
              <a:extLst>
                <a:ext uri="{FF2B5EF4-FFF2-40B4-BE49-F238E27FC236}">
                  <a16:creationId xmlns:a16="http://schemas.microsoft.com/office/drawing/2014/main" id="{534AC0B4-B7CA-D574-EDF7-CC057D5F419B}"/>
                </a:ext>
              </a:extLst>
            </p:cNvPr>
            <p:cNvSpPr/>
            <p:nvPr/>
          </p:nvSpPr>
          <p:spPr>
            <a:xfrm>
              <a:off x="3316224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FFF5EB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36" name="Shape 18">
              <a:extLst>
                <a:ext uri="{FF2B5EF4-FFF2-40B4-BE49-F238E27FC236}">
                  <a16:creationId xmlns:a16="http://schemas.microsoft.com/office/drawing/2014/main" id="{C087DA3C-443A-31F1-7CA0-94ECCAA928B5}"/>
                </a:ext>
              </a:extLst>
            </p:cNvPr>
            <p:cNvSpPr/>
            <p:nvPr/>
          </p:nvSpPr>
          <p:spPr>
            <a:xfrm>
              <a:off x="3462528" y="1828800"/>
              <a:ext cx="536448" cy="536448"/>
            </a:xfrm>
            <a:prstGeom prst="ellipse">
              <a:avLst/>
            </a:prstGeom>
            <a:solidFill>
              <a:srgbClr val="D97706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38" name="Text 19">
              <a:extLst>
                <a:ext uri="{FF2B5EF4-FFF2-40B4-BE49-F238E27FC236}">
                  <a16:creationId xmlns:a16="http://schemas.microsoft.com/office/drawing/2014/main" id="{AE1013FE-06E8-0F0C-6DEE-05BF3FE7D0F5}"/>
                </a:ext>
              </a:extLst>
            </p:cNvPr>
            <p:cNvSpPr/>
            <p:nvPr/>
          </p:nvSpPr>
          <p:spPr>
            <a:xfrm>
              <a:off x="3462528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H</a:t>
              </a:r>
              <a:endParaRPr lang="en-US" sz="2133" dirty="0"/>
            </a:p>
          </p:txBody>
        </p:sp>
        <p:sp>
          <p:nvSpPr>
            <p:cNvPr id="40" name="Text 20">
              <a:extLst>
                <a:ext uri="{FF2B5EF4-FFF2-40B4-BE49-F238E27FC236}">
                  <a16:creationId xmlns:a16="http://schemas.microsoft.com/office/drawing/2014/main" id="{943F3636-5828-EBB3-7EF7-16B85AE50450}"/>
                </a:ext>
              </a:extLst>
            </p:cNvPr>
            <p:cNvSpPr/>
            <p:nvPr/>
          </p:nvSpPr>
          <p:spPr>
            <a:xfrm>
              <a:off x="4072128" y="1828800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Entropy</a:t>
              </a:r>
              <a:endParaRPr lang="en-US" sz="1733" dirty="0"/>
            </a:p>
          </p:txBody>
        </p:sp>
        <p:sp>
          <p:nvSpPr>
            <p:cNvPr id="42" name="Text 21">
              <a:extLst>
                <a:ext uri="{FF2B5EF4-FFF2-40B4-BE49-F238E27FC236}">
                  <a16:creationId xmlns:a16="http://schemas.microsoft.com/office/drawing/2014/main" id="{6F74C0A3-4533-D92D-22CF-E76DC4A01E2C}"/>
                </a:ext>
              </a:extLst>
            </p:cNvPr>
            <p:cNvSpPr/>
            <p:nvPr/>
          </p:nvSpPr>
          <p:spPr>
            <a:xfrm>
              <a:off x="4072128" y="2109216"/>
              <a:ext cx="17800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混亂度</a:t>
              </a:r>
              <a:endParaRPr lang="en-US" sz="1333" dirty="0"/>
            </a:p>
          </p:txBody>
        </p:sp>
        <p:sp>
          <p:nvSpPr>
            <p:cNvPr id="44" name="Shape 22">
              <a:extLst>
                <a:ext uri="{FF2B5EF4-FFF2-40B4-BE49-F238E27FC236}">
                  <a16:creationId xmlns:a16="http://schemas.microsoft.com/office/drawing/2014/main" id="{2C72730F-FD18-AFF5-FE8D-2A5FFBD6DB84}"/>
                </a:ext>
              </a:extLst>
            </p:cNvPr>
            <p:cNvSpPr/>
            <p:nvPr/>
          </p:nvSpPr>
          <p:spPr>
            <a:xfrm>
              <a:off x="3462528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46" name="Text 23">
              <a:extLst>
                <a:ext uri="{FF2B5EF4-FFF2-40B4-BE49-F238E27FC236}">
                  <a16:creationId xmlns:a16="http://schemas.microsoft.com/office/drawing/2014/main" id="{ADF4025E-726D-B35C-24BF-5386593050D3}"/>
                </a:ext>
              </a:extLst>
            </p:cNvPr>
            <p:cNvSpPr/>
            <p:nvPr/>
          </p:nvSpPr>
          <p:spPr>
            <a:xfrm>
              <a:off x="3462528" y="2487168"/>
              <a:ext cx="2389632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詞彙分布的 Shannon entropy，正規化至 0–1</a:t>
              </a:r>
              <a:endParaRPr lang="en-US" sz="1200" dirty="0"/>
            </a:p>
          </p:txBody>
        </p:sp>
        <p:sp>
          <p:nvSpPr>
            <p:cNvPr id="48" name="Text 24">
              <a:extLst>
                <a:ext uri="{FF2B5EF4-FFF2-40B4-BE49-F238E27FC236}">
                  <a16:creationId xmlns:a16="http://schemas.microsoft.com/office/drawing/2014/main" id="{C0E66BF6-34BF-2B4B-1F19-E992E97CA3BA}"/>
                </a:ext>
              </a:extLst>
            </p:cNvPr>
            <p:cNvSpPr/>
            <p:nvPr/>
          </p:nvSpPr>
          <p:spPr>
            <a:xfrm>
              <a:off x="3462528" y="2974848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高：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機率平均分散，模型「不知道」</a:t>
              </a:r>
              <a:endParaRPr lang="en-US" sz="1133" dirty="0"/>
            </a:p>
          </p:txBody>
        </p:sp>
        <p:sp>
          <p:nvSpPr>
            <p:cNvPr id="50" name="Text 25">
              <a:extLst>
                <a:ext uri="{FF2B5EF4-FFF2-40B4-BE49-F238E27FC236}">
                  <a16:creationId xmlns:a16="http://schemas.microsoft.com/office/drawing/2014/main" id="{2373A1ED-64C1-6B69-36EE-164D63346214}"/>
                </a:ext>
              </a:extLst>
            </p:cNvPr>
            <p:cNvSpPr/>
            <p:nvPr/>
          </p:nvSpPr>
          <p:spPr>
            <a:xfrm>
              <a:off x="3462528" y="3413760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低：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機率集中，模型有明確判斷</a:t>
              </a:r>
              <a:endParaRPr lang="en-US" sz="1133" dirty="0"/>
            </a:p>
          </p:txBody>
        </p:sp>
        <p:sp>
          <p:nvSpPr>
            <p:cNvPr id="52" name="Shape 26">
              <a:extLst>
                <a:ext uri="{FF2B5EF4-FFF2-40B4-BE49-F238E27FC236}">
                  <a16:creationId xmlns:a16="http://schemas.microsoft.com/office/drawing/2014/main" id="{EBAB11F4-2FEF-D8BB-92B0-91AD63C95F86}"/>
                </a:ext>
              </a:extLst>
            </p:cNvPr>
            <p:cNvSpPr/>
            <p:nvPr/>
          </p:nvSpPr>
          <p:spPr>
            <a:xfrm>
              <a:off x="3462528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54" name="Text 27">
              <a:extLst>
                <a:ext uri="{FF2B5EF4-FFF2-40B4-BE49-F238E27FC236}">
                  <a16:creationId xmlns:a16="http://schemas.microsoft.com/office/drawing/2014/main" id="{D1ACDFDE-4365-E486-9A1D-4391BFB5AA21}"/>
                </a:ext>
              </a:extLst>
            </p:cNvPr>
            <p:cNvSpPr/>
            <p:nvPr/>
          </p:nvSpPr>
          <p:spPr>
            <a:xfrm>
              <a:off x="3462528" y="3925824"/>
              <a:ext cx="2389632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D9770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Entropy ≥ 0.92 → 直接觸發 S3 BLOCK</a:t>
              </a:r>
              <a:endParaRPr lang="en-US" sz="1133" dirty="0"/>
            </a:p>
          </p:txBody>
        </p:sp>
      </p:grpSp>
      <p:grpSp>
        <p:nvGrpSpPr>
          <p:cNvPr id="107" name="群組 106">
            <a:extLst>
              <a:ext uri="{FF2B5EF4-FFF2-40B4-BE49-F238E27FC236}">
                <a16:creationId xmlns:a16="http://schemas.microsoft.com/office/drawing/2014/main" id="{5EE382AC-06B9-3581-7656-12F9DF4DF84F}"/>
              </a:ext>
            </a:extLst>
          </p:cNvPr>
          <p:cNvGrpSpPr/>
          <p:nvPr/>
        </p:nvGrpSpPr>
        <p:grpSpPr>
          <a:xfrm>
            <a:off x="6169152" y="2169243"/>
            <a:ext cx="2657856" cy="3415626"/>
            <a:chOff x="6169152" y="1706880"/>
            <a:chExt cx="2657856" cy="3415626"/>
          </a:xfrm>
        </p:grpSpPr>
        <p:sp>
          <p:nvSpPr>
            <p:cNvPr id="58" name="Shape 29">
              <a:extLst>
                <a:ext uri="{FF2B5EF4-FFF2-40B4-BE49-F238E27FC236}">
                  <a16:creationId xmlns:a16="http://schemas.microsoft.com/office/drawing/2014/main" id="{57052935-7D6E-3785-29EC-FB7C22EDE486}"/>
                </a:ext>
              </a:extLst>
            </p:cNvPr>
            <p:cNvSpPr/>
            <p:nvPr/>
          </p:nvSpPr>
          <p:spPr>
            <a:xfrm>
              <a:off x="6169152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F5F0FF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60" name="Shape 30">
              <a:extLst>
                <a:ext uri="{FF2B5EF4-FFF2-40B4-BE49-F238E27FC236}">
                  <a16:creationId xmlns:a16="http://schemas.microsoft.com/office/drawing/2014/main" id="{22ADC56D-199C-07C9-63D7-33495491459B}"/>
                </a:ext>
              </a:extLst>
            </p:cNvPr>
            <p:cNvSpPr/>
            <p:nvPr/>
          </p:nvSpPr>
          <p:spPr>
            <a:xfrm>
              <a:off x="6315456" y="1828800"/>
              <a:ext cx="536448" cy="536448"/>
            </a:xfrm>
            <a:prstGeom prst="ellipse">
              <a:avLst/>
            </a:prstGeom>
            <a:solidFill>
              <a:srgbClr val="7C3AED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62" name="Text 31">
              <a:extLst>
                <a:ext uri="{FF2B5EF4-FFF2-40B4-BE49-F238E27FC236}">
                  <a16:creationId xmlns:a16="http://schemas.microsoft.com/office/drawing/2014/main" id="{3A517955-92EB-A527-53BB-6C8409E4C671}"/>
                </a:ext>
              </a:extLst>
            </p:cNvPr>
            <p:cNvSpPr/>
            <p:nvPr/>
          </p:nvSpPr>
          <p:spPr>
            <a:xfrm>
              <a:off x="6315456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D</a:t>
              </a:r>
              <a:endParaRPr lang="en-US" sz="2133" dirty="0"/>
            </a:p>
          </p:txBody>
        </p:sp>
        <p:sp>
          <p:nvSpPr>
            <p:cNvPr id="64" name="Text 32">
              <a:extLst>
                <a:ext uri="{FF2B5EF4-FFF2-40B4-BE49-F238E27FC236}">
                  <a16:creationId xmlns:a16="http://schemas.microsoft.com/office/drawing/2014/main" id="{79B9B9D2-37BC-4B73-53A1-3652533C6DA3}"/>
                </a:ext>
              </a:extLst>
            </p:cNvPr>
            <p:cNvSpPr/>
            <p:nvPr/>
          </p:nvSpPr>
          <p:spPr>
            <a:xfrm>
              <a:off x="6925056" y="1828800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Drift</a:t>
              </a:r>
              <a:endParaRPr lang="en-US" sz="1733" dirty="0"/>
            </a:p>
          </p:txBody>
        </p:sp>
        <p:sp>
          <p:nvSpPr>
            <p:cNvPr id="66" name="Text 33">
              <a:extLst>
                <a:ext uri="{FF2B5EF4-FFF2-40B4-BE49-F238E27FC236}">
                  <a16:creationId xmlns:a16="http://schemas.microsoft.com/office/drawing/2014/main" id="{5B67205C-119C-535C-580C-8F14C1EC81FB}"/>
                </a:ext>
              </a:extLst>
            </p:cNvPr>
            <p:cNvSpPr/>
            <p:nvPr/>
          </p:nvSpPr>
          <p:spPr>
            <a:xfrm>
              <a:off x="6925056" y="2109216"/>
              <a:ext cx="17800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漂移量</a:t>
              </a:r>
              <a:endParaRPr lang="en-US" sz="1333" dirty="0"/>
            </a:p>
          </p:txBody>
        </p:sp>
        <p:sp>
          <p:nvSpPr>
            <p:cNvPr id="68" name="Shape 34">
              <a:extLst>
                <a:ext uri="{FF2B5EF4-FFF2-40B4-BE49-F238E27FC236}">
                  <a16:creationId xmlns:a16="http://schemas.microsoft.com/office/drawing/2014/main" id="{7675A708-E6C8-DECB-1CDB-0655CC09917F}"/>
                </a:ext>
              </a:extLst>
            </p:cNvPr>
            <p:cNvSpPr/>
            <p:nvPr/>
          </p:nvSpPr>
          <p:spPr>
            <a:xfrm>
              <a:off x="6315456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70" name="Text 35">
              <a:extLst>
                <a:ext uri="{FF2B5EF4-FFF2-40B4-BE49-F238E27FC236}">
                  <a16:creationId xmlns:a16="http://schemas.microsoft.com/office/drawing/2014/main" id="{C7392E87-7ADB-5006-553F-284B3A43CE18}"/>
                </a:ext>
              </a:extLst>
            </p:cNvPr>
            <p:cNvSpPr/>
            <p:nvPr/>
          </p:nvSpPr>
          <p:spPr>
            <a:xfrm>
              <a:off x="6315456" y="2487168"/>
              <a:ext cx="2389632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與前一步 hidden state 的 cosine distance</a:t>
              </a:r>
              <a:endParaRPr lang="en-US" sz="1200" dirty="0"/>
            </a:p>
          </p:txBody>
        </p:sp>
        <p:sp>
          <p:nvSpPr>
            <p:cNvPr id="72" name="Text 36">
              <a:extLst>
                <a:ext uri="{FF2B5EF4-FFF2-40B4-BE49-F238E27FC236}">
                  <a16:creationId xmlns:a16="http://schemas.microsoft.com/office/drawing/2014/main" id="{FCBAD472-3F99-6ACD-E1A4-FA3BFF740D3F}"/>
                </a:ext>
              </a:extLst>
            </p:cNvPr>
            <p:cNvSpPr/>
            <p:nvPr/>
          </p:nvSpPr>
          <p:spPr>
            <a:xfrm>
              <a:off x="6315456" y="2974848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高：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模型思考方向急速轉變</a:t>
              </a:r>
              <a:endParaRPr lang="en-US" sz="1133" dirty="0"/>
            </a:p>
          </p:txBody>
        </p:sp>
        <p:sp>
          <p:nvSpPr>
            <p:cNvPr id="74" name="Text 37">
              <a:extLst>
                <a:ext uri="{FF2B5EF4-FFF2-40B4-BE49-F238E27FC236}">
                  <a16:creationId xmlns:a16="http://schemas.microsoft.com/office/drawing/2014/main" id="{5642EFFD-46EC-291D-727B-306E9A5842E6}"/>
                </a:ext>
              </a:extLst>
            </p:cNvPr>
            <p:cNvSpPr/>
            <p:nvPr/>
          </p:nvSpPr>
          <p:spPr>
            <a:xfrm>
              <a:off x="6315456" y="3413760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低：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推論脈絡穩定延續</a:t>
              </a:r>
              <a:endParaRPr lang="en-US" sz="1133" dirty="0"/>
            </a:p>
          </p:txBody>
        </p:sp>
        <p:sp>
          <p:nvSpPr>
            <p:cNvPr id="76" name="Shape 38">
              <a:extLst>
                <a:ext uri="{FF2B5EF4-FFF2-40B4-BE49-F238E27FC236}">
                  <a16:creationId xmlns:a16="http://schemas.microsoft.com/office/drawing/2014/main" id="{21963CAA-C944-6B09-8115-E833C29E56EA}"/>
                </a:ext>
              </a:extLst>
            </p:cNvPr>
            <p:cNvSpPr/>
            <p:nvPr/>
          </p:nvSpPr>
          <p:spPr>
            <a:xfrm>
              <a:off x="6315456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78" name="Text 39">
              <a:extLst>
                <a:ext uri="{FF2B5EF4-FFF2-40B4-BE49-F238E27FC236}">
                  <a16:creationId xmlns:a16="http://schemas.microsoft.com/office/drawing/2014/main" id="{DAF79BCA-3349-5E24-52D2-1F776EB38D27}"/>
                </a:ext>
              </a:extLst>
            </p:cNvPr>
            <p:cNvSpPr/>
            <p:nvPr/>
          </p:nvSpPr>
          <p:spPr>
            <a:xfrm>
              <a:off x="6315456" y="3925824"/>
              <a:ext cx="2389632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7C3AE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Drift ≥ 0.45 → 直接觸發 S3</a:t>
              </a:r>
              <a:endParaRPr lang="en-US" sz="1133" dirty="0"/>
            </a:p>
          </p:txBody>
        </p:sp>
      </p:grp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BB41BEBB-33BD-E941-EAF4-D8D28D02E238}"/>
              </a:ext>
            </a:extLst>
          </p:cNvPr>
          <p:cNvGrpSpPr/>
          <p:nvPr/>
        </p:nvGrpSpPr>
        <p:grpSpPr>
          <a:xfrm>
            <a:off x="9022080" y="2169243"/>
            <a:ext cx="2657856" cy="3415626"/>
            <a:chOff x="9022080" y="1706880"/>
            <a:chExt cx="2657856" cy="3415626"/>
          </a:xfrm>
        </p:grpSpPr>
        <p:sp>
          <p:nvSpPr>
            <p:cNvPr id="82" name="Shape 41">
              <a:extLst>
                <a:ext uri="{FF2B5EF4-FFF2-40B4-BE49-F238E27FC236}">
                  <a16:creationId xmlns:a16="http://schemas.microsoft.com/office/drawing/2014/main" id="{63E9E449-F983-B649-1FC9-9EA1EE9DEA75}"/>
                </a:ext>
              </a:extLst>
            </p:cNvPr>
            <p:cNvSpPr/>
            <p:nvPr/>
          </p:nvSpPr>
          <p:spPr>
            <a:xfrm>
              <a:off x="9022080" y="1706880"/>
              <a:ext cx="2657856" cy="3415626"/>
            </a:xfrm>
            <a:prstGeom prst="roundRect">
              <a:avLst>
                <a:gd name="adj" fmla="val 4587"/>
              </a:avLst>
            </a:prstGeom>
            <a:solidFill>
              <a:srgbClr val="F0FBF7"/>
            </a:solidFill>
            <a:ln w="6350">
              <a:solidFill>
                <a:srgbClr val="D1D9E0"/>
              </a:solidFill>
              <a:prstDash val="solid"/>
            </a:ln>
            <a:effectLst>
              <a:outerShdw blurRad="63500" dist="25400" dir="2700000" algn="bl" rotWithShape="0">
                <a:srgbClr val="000000">
                  <a:alpha val="8000"/>
                </a:srgbClr>
              </a:outerShdw>
            </a:effectLst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84" name="Shape 42">
              <a:extLst>
                <a:ext uri="{FF2B5EF4-FFF2-40B4-BE49-F238E27FC236}">
                  <a16:creationId xmlns:a16="http://schemas.microsoft.com/office/drawing/2014/main" id="{4A1C64B1-5AAD-0EBA-43B1-690F7CC03241}"/>
                </a:ext>
              </a:extLst>
            </p:cNvPr>
            <p:cNvSpPr/>
            <p:nvPr/>
          </p:nvSpPr>
          <p:spPr>
            <a:xfrm>
              <a:off x="9168384" y="1828800"/>
              <a:ext cx="536448" cy="536448"/>
            </a:xfrm>
            <a:prstGeom prst="ellipse">
              <a:avLst/>
            </a:prstGeom>
            <a:solidFill>
              <a:srgbClr val="16A34A"/>
            </a:solidFill>
            <a:ln/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86" name="Text 43">
              <a:extLst>
                <a:ext uri="{FF2B5EF4-FFF2-40B4-BE49-F238E27FC236}">
                  <a16:creationId xmlns:a16="http://schemas.microsoft.com/office/drawing/2014/main" id="{1AA8A781-DF2F-2E79-9AB4-8762BD556C63}"/>
                </a:ext>
              </a:extLst>
            </p:cNvPr>
            <p:cNvSpPr/>
            <p:nvPr/>
          </p:nvSpPr>
          <p:spPr>
            <a:xfrm>
              <a:off x="9168384" y="1828800"/>
              <a:ext cx="536448" cy="5364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133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V</a:t>
              </a:r>
              <a:endParaRPr lang="en-US" sz="2133" dirty="0"/>
            </a:p>
          </p:txBody>
        </p:sp>
        <p:sp>
          <p:nvSpPr>
            <p:cNvPr id="88" name="Text 44">
              <a:extLst>
                <a:ext uri="{FF2B5EF4-FFF2-40B4-BE49-F238E27FC236}">
                  <a16:creationId xmlns:a16="http://schemas.microsoft.com/office/drawing/2014/main" id="{87BCDC8F-F68B-71C0-3AE5-0E6A9D30873B}"/>
                </a:ext>
              </a:extLst>
            </p:cNvPr>
            <p:cNvSpPr/>
            <p:nvPr/>
          </p:nvSpPr>
          <p:spPr>
            <a:xfrm>
              <a:off x="9777984" y="1828800"/>
              <a:ext cx="1780032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733" b="1" dirty="0">
                  <a:solidFill>
                    <a:srgbClr val="1E293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Volatility</a:t>
              </a:r>
              <a:endParaRPr lang="en-US" sz="1733" dirty="0"/>
            </a:p>
          </p:txBody>
        </p:sp>
        <p:sp>
          <p:nvSpPr>
            <p:cNvPr id="90" name="Text 45">
              <a:extLst>
                <a:ext uri="{FF2B5EF4-FFF2-40B4-BE49-F238E27FC236}">
                  <a16:creationId xmlns:a16="http://schemas.microsoft.com/office/drawing/2014/main" id="{DFA59595-8160-524D-7378-D596F953BDF5}"/>
                </a:ext>
              </a:extLst>
            </p:cNvPr>
            <p:cNvSpPr/>
            <p:nvPr/>
          </p:nvSpPr>
          <p:spPr>
            <a:xfrm>
              <a:off x="9777984" y="2109216"/>
              <a:ext cx="1780032" cy="2438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333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波動性</a:t>
              </a:r>
              <a:endParaRPr lang="en-US" sz="1333" dirty="0"/>
            </a:p>
          </p:txBody>
        </p:sp>
        <p:sp>
          <p:nvSpPr>
            <p:cNvPr id="92" name="Shape 46">
              <a:extLst>
                <a:ext uri="{FF2B5EF4-FFF2-40B4-BE49-F238E27FC236}">
                  <a16:creationId xmlns:a16="http://schemas.microsoft.com/office/drawing/2014/main" id="{18D5292D-329D-AAB9-FE2E-BB34A91A574F}"/>
                </a:ext>
              </a:extLst>
            </p:cNvPr>
            <p:cNvSpPr/>
            <p:nvPr/>
          </p:nvSpPr>
          <p:spPr>
            <a:xfrm>
              <a:off x="9168384" y="2438400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94" name="Text 47">
              <a:extLst>
                <a:ext uri="{FF2B5EF4-FFF2-40B4-BE49-F238E27FC236}">
                  <a16:creationId xmlns:a16="http://schemas.microsoft.com/office/drawing/2014/main" id="{84726F6B-4F04-F061-58F7-031AB98874FE}"/>
                </a:ext>
              </a:extLst>
            </p:cNvPr>
            <p:cNvSpPr/>
            <p:nvPr/>
          </p:nvSpPr>
          <p:spPr>
            <a:xfrm>
              <a:off x="9168384" y="2487168"/>
              <a:ext cx="2389632" cy="4389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200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過去 16 步 Entropy 的滾動標準差</a:t>
              </a:r>
              <a:endParaRPr lang="en-US" sz="1200" dirty="0"/>
            </a:p>
          </p:txBody>
        </p:sp>
        <p:sp>
          <p:nvSpPr>
            <p:cNvPr id="96" name="Text 48">
              <a:extLst>
                <a:ext uri="{FF2B5EF4-FFF2-40B4-BE49-F238E27FC236}">
                  <a16:creationId xmlns:a16="http://schemas.microsoft.com/office/drawing/2014/main" id="{F7EEAD3E-D5B2-76B1-5120-0C927233B4F6}"/>
                </a:ext>
              </a:extLst>
            </p:cNvPr>
            <p:cNvSpPr/>
            <p:nvPr/>
          </p:nvSpPr>
          <p:spPr>
            <a:xfrm>
              <a:off x="9168384" y="2974848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DC262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↑ 高：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模型反覆在確定/不確定間震盪</a:t>
              </a:r>
              <a:endParaRPr lang="en-US" sz="1133" dirty="0"/>
            </a:p>
          </p:txBody>
        </p:sp>
        <p:sp>
          <p:nvSpPr>
            <p:cNvPr id="98" name="Text 49">
              <a:extLst>
                <a:ext uri="{FF2B5EF4-FFF2-40B4-BE49-F238E27FC236}">
                  <a16:creationId xmlns:a16="http://schemas.microsoft.com/office/drawing/2014/main" id="{2ED81AD5-6027-10CD-80CE-CC07E7941187}"/>
                </a:ext>
              </a:extLst>
            </p:cNvPr>
            <p:cNvSpPr/>
            <p:nvPr/>
          </p:nvSpPr>
          <p:spPr>
            <a:xfrm>
              <a:off x="9168384" y="3413760"/>
              <a:ext cx="2389632" cy="41452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↓ 低：</a:t>
              </a:r>
              <a:r>
                <a:rPr lang="en-US" sz="1133" dirty="0">
                  <a:solidFill>
                    <a:srgbClr val="64748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推論狀態穩定</a:t>
              </a:r>
              <a:endParaRPr lang="en-US" sz="1133" dirty="0"/>
            </a:p>
          </p:txBody>
        </p:sp>
        <p:sp>
          <p:nvSpPr>
            <p:cNvPr id="100" name="Shape 50">
              <a:extLst>
                <a:ext uri="{FF2B5EF4-FFF2-40B4-BE49-F238E27FC236}">
                  <a16:creationId xmlns:a16="http://schemas.microsoft.com/office/drawing/2014/main" id="{7A36B0C4-21F2-2A4F-7AA9-714AB3A54529}"/>
                </a:ext>
              </a:extLst>
            </p:cNvPr>
            <p:cNvSpPr/>
            <p:nvPr/>
          </p:nvSpPr>
          <p:spPr>
            <a:xfrm>
              <a:off x="9168384" y="3877056"/>
              <a:ext cx="2365248" cy="0"/>
            </a:xfrm>
            <a:prstGeom prst="line">
              <a:avLst/>
            </a:prstGeom>
            <a:noFill/>
            <a:ln w="6350">
              <a:solidFill>
                <a:srgbClr val="D1D9E0"/>
              </a:solidFill>
              <a:prstDash val="solid"/>
            </a:ln>
          </p:spPr>
          <p:txBody>
            <a:bodyPr/>
            <a:lstStyle/>
            <a:p>
              <a:endParaRPr lang="zh-TW" altLang="en-US" sz="2400"/>
            </a:p>
          </p:txBody>
        </p:sp>
        <p:sp>
          <p:nvSpPr>
            <p:cNvPr id="102" name="Text 51">
              <a:extLst>
                <a:ext uri="{FF2B5EF4-FFF2-40B4-BE49-F238E27FC236}">
                  <a16:creationId xmlns:a16="http://schemas.microsoft.com/office/drawing/2014/main" id="{6061C31F-74EC-7A97-98B2-37FE493821E4}"/>
                </a:ext>
              </a:extLst>
            </p:cNvPr>
            <p:cNvSpPr/>
            <p:nvPr/>
          </p:nvSpPr>
          <p:spPr>
            <a:xfrm>
              <a:off x="9168384" y="3925824"/>
              <a:ext cx="2389632" cy="5364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33" b="1" dirty="0">
                  <a:solidFill>
                    <a:srgbClr val="16A34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Volatility 飆升 → Fast Track 即時稽核</a:t>
              </a:r>
              <a:endParaRPr lang="en-US" sz="1133" dirty="0"/>
            </a:p>
          </p:txBody>
        </p:sp>
      </p:grpSp>
    </p:spTree>
    <p:extLst>
      <p:ext uri="{BB962C8B-B14F-4D97-AF65-F5344CB8AC3E}">
        <p14:creationId xmlns:p14="http://schemas.microsoft.com/office/powerpoint/2010/main" val="405651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60802-DA03-0601-718D-0A178AAFA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F218F81D-FCF3-8425-F133-3618C70AE911}"/>
              </a:ext>
            </a:extLst>
          </p:cNvPr>
          <p:cNvSpPr/>
          <p:nvPr/>
        </p:nvSpPr>
        <p:spPr>
          <a:xfrm>
            <a:off x="502920" y="27707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/>
              <a:t>RUNTIME TRUST Solution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7F2D9BE-E3E2-6DC4-C217-432FA1B1987E}"/>
              </a:ext>
            </a:extLst>
          </p:cNvPr>
          <p:cNvSpPr txBox="1"/>
          <p:nvPr/>
        </p:nvSpPr>
        <p:spPr>
          <a:xfrm>
            <a:off x="502920" y="784926"/>
            <a:ext cx="10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數學分析</a:t>
            </a:r>
            <a:r>
              <a:rPr lang="en-US" altLang="zh-TW" dirty="0"/>
              <a:t>margin</a:t>
            </a:r>
            <a:r>
              <a:rPr lang="zh-TW" altLang="en-US" dirty="0"/>
              <a:t>、</a:t>
            </a:r>
            <a:r>
              <a:rPr lang="en-US" altLang="zh-TW" dirty="0"/>
              <a:t>entropy</a:t>
            </a:r>
            <a:r>
              <a:rPr lang="zh-TW" altLang="en-US" dirty="0"/>
              <a:t>、</a:t>
            </a:r>
            <a:r>
              <a:rPr lang="en-US" altLang="zh-TW" dirty="0"/>
              <a:t>drift</a:t>
            </a:r>
            <a:r>
              <a:rPr lang="zh-TW" altLang="en-US" dirty="0"/>
              <a:t>、volatility可快速完成風險分類，進而觸發路由即時反應，降低反應的時間以及成本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754E471A-5761-55AA-8D4F-1AD0752C611D}"/>
              </a:ext>
            </a:extLst>
          </p:cNvPr>
          <p:cNvSpPr/>
          <p:nvPr/>
        </p:nvSpPr>
        <p:spPr>
          <a:xfrm>
            <a:off x="10728960" y="6522720"/>
            <a:ext cx="1219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endParaRPr lang="en-US" sz="12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EDE0A515-FF90-00ED-EE18-C237ED9A864E}"/>
              </a:ext>
            </a:extLst>
          </p:cNvPr>
          <p:cNvSpPr/>
          <p:nvPr/>
        </p:nvSpPr>
        <p:spPr>
          <a:xfrm>
            <a:off x="817735" y="6110441"/>
            <a:ext cx="109553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2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DB99046-15C2-D71E-97CA-909254924521}"/>
              </a:ext>
            </a:extLst>
          </p:cNvPr>
          <p:cNvSpPr/>
          <p:nvPr/>
        </p:nvSpPr>
        <p:spPr>
          <a:xfrm>
            <a:off x="5045746" y="6109064"/>
            <a:ext cx="1212233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200" dirty="0"/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B4156FA5-94BF-999F-1D06-A68827E550CF}"/>
              </a:ext>
            </a:extLst>
          </p:cNvPr>
          <p:cNvSpPr/>
          <p:nvPr/>
        </p:nvSpPr>
        <p:spPr>
          <a:xfrm>
            <a:off x="1067671" y="1737461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AECE7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3A74F51E-8645-D4A1-B1CE-545BB164772B}"/>
              </a:ext>
            </a:extLst>
          </p:cNvPr>
          <p:cNvSpPr/>
          <p:nvPr/>
        </p:nvSpPr>
        <p:spPr>
          <a:xfrm>
            <a:off x="1156498" y="1834167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1867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C94E901E-3C6E-8A19-A654-9C7304B5D711}"/>
              </a:ext>
            </a:extLst>
          </p:cNvPr>
          <p:cNvSpPr/>
          <p:nvPr/>
        </p:nvSpPr>
        <p:spPr>
          <a:xfrm>
            <a:off x="1863634" y="1834167"/>
            <a:ext cx="14386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33" name="Text 13">
            <a:extLst>
              <a:ext uri="{FF2B5EF4-FFF2-40B4-BE49-F238E27FC236}">
                <a16:creationId xmlns:a16="http://schemas.microsoft.com/office/drawing/2014/main" id="{5284A89E-4DC4-53B9-69AA-5BBE2723D9FA}"/>
              </a:ext>
            </a:extLst>
          </p:cNvPr>
          <p:cNvSpPr/>
          <p:nvPr/>
        </p:nvSpPr>
        <p:spPr>
          <a:xfrm>
            <a:off x="1018903" y="2301160"/>
            <a:ext cx="2366989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r>
              <a:rPr lang="zh-TW" alt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</a:t>
            </a:r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高 + Drift 低</a:t>
            </a:r>
            <a:endParaRPr lang="en-US" sz="1267" dirty="0"/>
          </a:p>
          <a:p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sz="12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模型不確定，脈絡還在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1267" dirty="0"/>
          </a:p>
        </p:txBody>
      </p:sp>
      <p:sp>
        <p:nvSpPr>
          <p:cNvPr id="37" name="Text 14">
            <a:extLst>
              <a:ext uri="{FF2B5EF4-FFF2-40B4-BE49-F238E27FC236}">
                <a16:creationId xmlns:a16="http://schemas.microsoft.com/office/drawing/2014/main" id="{11E0BB02-492F-7BC8-D890-45689F278FC0}"/>
              </a:ext>
            </a:extLst>
          </p:cNvPr>
          <p:cNvSpPr/>
          <p:nvPr/>
        </p:nvSpPr>
        <p:spPr>
          <a:xfrm>
            <a:off x="1156498" y="3272823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≥ 0.75 / drift &lt; 0.18</a:t>
            </a:r>
            <a:endParaRPr lang="en-US" sz="1133" dirty="0"/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FCC6259C-885D-42C7-824A-6A7008501BB0}"/>
              </a:ext>
            </a:extLst>
          </p:cNvPr>
          <p:cNvSpPr/>
          <p:nvPr/>
        </p:nvSpPr>
        <p:spPr>
          <a:xfrm>
            <a:off x="3497362" y="1712247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CEAEA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45" name="Text 16">
            <a:extLst>
              <a:ext uri="{FF2B5EF4-FFF2-40B4-BE49-F238E27FC236}">
                <a16:creationId xmlns:a16="http://schemas.microsoft.com/office/drawing/2014/main" id="{688FE984-8BD1-2141-17E9-08841B38C223}"/>
              </a:ext>
            </a:extLst>
          </p:cNvPr>
          <p:cNvSpPr/>
          <p:nvPr/>
        </p:nvSpPr>
        <p:spPr>
          <a:xfrm>
            <a:off x="3619282" y="1834167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867" dirty="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993CAD5B-0555-A34C-23E5-136F4EB5330E}"/>
              </a:ext>
            </a:extLst>
          </p:cNvPr>
          <p:cNvSpPr/>
          <p:nvPr/>
        </p:nvSpPr>
        <p:spPr>
          <a:xfrm>
            <a:off x="3457304" y="2345360"/>
            <a:ext cx="2450590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r>
              <a:rPr lang="zh-TW" alt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 </a:t>
            </a:r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高 + Drift 高</a:t>
            </a:r>
            <a:endParaRPr lang="en-US" sz="1267" dirty="0"/>
          </a:p>
          <a:p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sz="12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完全失控，雙重異常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1267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0C977FA1-70F9-4809-E3B5-77C54BCA5A30}"/>
              </a:ext>
            </a:extLst>
          </p:cNvPr>
          <p:cNvSpPr/>
          <p:nvPr/>
        </p:nvSpPr>
        <p:spPr>
          <a:xfrm>
            <a:off x="3619282" y="3272823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≥ 0.92 OR drift ≥ 0.45</a:t>
            </a:r>
            <a:endParaRPr lang="en-US" sz="1133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25B4C082-467C-687F-676B-ABC68AA8925A}"/>
              </a:ext>
            </a:extLst>
          </p:cNvPr>
          <p:cNvSpPr/>
          <p:nvPr/>
        </p:nvSpPr>
        <p:spPr>
          <a:xfrm>
            <a:off x="1034578" y="3809271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EAF3DE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67" name="Text 22">
            <a:extLst>
              <a:ext uri="{FF2B5EF4-FFF2-40B4-BE49-F238E27FC236}">
                <a16:creationId xmlns:a16="http://schemas.microsoft.com/office/drawing/2014/main" id="{21EDDE7F-186E-2312-0B15-453DAE2C2939}"/>
              </a:ext>
            </a:extLst>
          </p:cNvPr>
          <p:cNvSpPr/>
          <p:nvPr/>
        </p:nvSpPr>
        <p:spPr>
          <a:xfrm>
            <a:off x="1156498" y="3931191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1867" dirty="0"/>
          </a:p>
        </p:txBody>
      </p:sp>
      <p:sp>
        <p:nvSpPr>
          <p:cNvPr id="75" name="Text 24">
            <a:extLst>
              <a:ext uri="{FF2B5EF4-FFF2-40B4-BE49-F238E27FC236}">
                <a16:creationId xmlns:a16="http://schemas.microsoft.com/office/drawing/2014/main" id="{E20B336F-126B-6111-1E58-5279A6A94156}"/>
              </a:ext>
            </a:extLst>
          </p:cNvPr>
          <p:cNvSpPr/>
          <p:nvPr/>
        </p:nvSpPr>
        <p:spPr>
          <a:xfrm>
            <a:off x="1863634" y="3931191"/>
            <a:ext cx="1438656" cy="31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1200" dirty="0"/>
          </a:p>
        </p:txBody>
      </p:sp>
      <p:sp>
        <p:nvSpPr>
          <p:cNvPr id="79" name="Text 25">
            <a:extLst>
              <a:ext uri="{FF2B5EF4-FFF2-40B4-BE49-F238E27FC236}">
                <a16:creationId xmlns:a16="http://schemas.microsoft.com/office/drawing/2014/main" id="{9130C817-E688-CBA4-6084-B7853304CCDF}"/>
              </a:ext>
            </a:extLst>
          </p:cNvPr>
          <p:cNvSpPr/>
          <p:nvPr/>
        </p:nvSpPr>
        <p:spPr>
          <a:xfrm>
            <a:off x="998873" y="4345719"/>
            <a:ext cx="2340863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r>
              <a:rPr lang="zh-TW" alt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</a:t>
            </a:r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低 + Drift 低</a:t>
            </a:r>
            <a:endParaRPr lang="en-US" sz="1267" dirty="0"/>
          </a:p>
          <a:p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sz="12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正常推論，脈絡穩定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1267" dirty="0"/>
          </a:p>
        </p:txBody>
      </p:sp>
      <p:sp>
        <p:nvSpPr>
          <p:cNvPr id="81" name="Text 26">
            <a:extLst>
              <a:ext uri="{FF2B5EF4-FFF2-40B4-BE49-F238E27FC236}">
                <a16:creationId xmlns:a16="http://schemas.microsoft.com/office/drawing/2014/main" id="{8787EC42-277A-DD93-309F-81F2FDC08AC3}"/>
              </a:ext>
            </a:extLst>
          </p:cNvPr>
          <p:cNvSpPr/>
          <p:nvPr/>
        </p:nvSpPr>
        <p:spPr>
          <a:xfrm>
            <a:off x="1156498" y="5369847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&lt; 0.55 / drift &lt; 0.18</a:t>
            </a:r>
            <a:endParaRPr lang="en-US" sz="1133" dirty="0"/>
          </a:p>
        </p:txBody>
      </p:sp>
      <p:sp>
        <p:nvSpPr>
          <p:cNvPr id="85" name="Shape 27">
            <a:extLst>
              <a:ext uri="{FF2B5EF4-FFF2-40B4-BE49-F238E27FC236}">
                <a16:creationId xmlns:a16="http://schemas.microsoft.com/office/drawing/2014/main" id="{A74280CC-677D-9883-A609-5B016915B748}"/>
              </a:ext>
            </a:extLst>
          </p:cNvPr>
          <p:cNvSpPr/>
          <p:nvPr/>
        </p:nvSpPr>
        <p:spPr>
          <a:xfrm>
            <a:off x="3497362" y="3809271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FF8E1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89" name="Text 28">
            <a:extLst>
              <a:ext uri="{FF2B5EF4-FFF2-40B4-BE49-F238E27FC236}">
                <a16:creationId xmlns:a16="http://schemas.microsoft.com/office/drawing/2014/main" id="{1EBB03A6-3760-9D2B-A23D-02FB81F0201F}"/>
              </a:ext>
            </a:extLst>
          </p:cNvPr>
          <p:cNvSpPr/>
          <p:nvPr/>
        </p:nvSpPr>
        <p:spPr>
          <a:xfrm>
            <a:off x="3619282" y="3931191"/>
            <a:ext cx="67056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1867" dirty="0"/>
          </a:p>
        </p:txBody>
      </p:sp>
      <p:sp>
        <p:nvSpPr>
          <p:cNvPr id="101" name="Text 31">
            <a:extLst>
              <a:ext uri="{FF2B5EF4-FFF2-40B4-BE49-F238E27FC236}">
                <a16:creationId xmlns:a16="http://schemas.microsoft.com/office/drawing/2014/main" id="{C19E99AD-DC9A-7E08-A2FA-7C55A1F47E2D}"/>
              </a:ext>
            </a:extLst>
          </p:cNvPr>
          <p:cNvSpPr/>
          <p:nvPr/>
        </p:nvSpPr>
        <p:spPr>
          <a:xfrm>
            <a:off x="3477145" y="4345719"/>
            <a:ext cx="249693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r>
              <a:rPr lang="zh-TW" alt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 </a:t>
            </a:r>
            <a:r>
              <a:rPr lang="en-US" altLang="zh-TW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低 + Drift 高</a:t>
            </a:r>
            <a:endParaRPr lang="en-US" sz="1267" dirty="0"/>
          </a:p>
          <a:p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</a:t>
            </a:r>
            <a:r>
              <a:rPr lang="en-US" sz="1267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確定但方向突變</a:t>
            </a:r>
            <a:r>
              <a:rPr lang="en-US" sz="1267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</a:t>
            </a:r>
            <a:endParaRPr lang="en-US" sz="1267" dirty="0"/>
          </a:p>
        </p:txBody>
      </p:sp>
      <p:sp>
        <p:nvSpPr>
          <p:cNvPr id="104" name="Text 32">
            <a:extLst>
              <a:ext uri="{FF2B5EF4-FFF2-40B4-BE49-F238E27FC236}">
                <a16:creationId xmlns:a16="http://schemas.microsoft.com/office/drawing/2014/main" id="{682C16A7-97B4-B09E-2978-8758810AB26A}"/>
              </a:ext>
            </a:extLst>
          </p:cNvPr>
          <p:cNvSpPr/>
          <p:nvPr/>
        </p:nvSpPr>
        <p:spPr>
          <a:xfrm>
            <a:off x="3619282" y="5369847"/>
            <a:ext cx="217017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33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&lt; 0.55 / drift ≥ 0.18</a:t>
            </a:r>
            <a:endParaRPr lang="en-US" sz="1133" dirty="0"/>
          </a:p>
        </p:txBody>
      </p:sp>
      <p:cxnSp>
        <p:nvCxnSpPr>
          <p:cNvPr id="110" name="直線單箭頭接點 109">
            <a:extLst>
              <a:ext uri="{FF2B5EF4-FFF2-40B4-BE49-F238E27FC236}">
                <a16:creationId xmlns:a16="http://schemas.microsoft.com/office/drawing/2014/main" id="{4CA8167C-B663-A045-D491-9CA22890E64C}"/>
              </a:ext>
            </a:extLst>
          </p:cNvPr>
          <p:cNvCxnSpPr>
            <a:cxnSpLocks/>
          </p:cNvCxnSpPr>
          <p:nvPr/>
        </p:nvCxnSpPr>
        <p:spPr>
          <a:xfrm flipV="1">
            <a:off x="817735" y="6026473"/>
            <a:ext cx="5320066" cy="14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 6">
            <a:extLst>
              <a:ext uri="{FF2B5EF4-FFF2-40B4-BE49-F238E27FC236}">
                <a16:creationId xmlns:a16="http://schemas.microsoft.com/office/drawing/2014/main" id="{01A1BE4D-D546-C002-AAA7-FA84F7F36F7C}"/>
              </a:ext>
            </a:extLst>
          </p:cNvPr>
          <p:cNvSpPr/>
          <p:nvPr/>
        </p:nvSpPr>
        <p:spPr>
          <a:xfrm>
            <a:off x="2264228" y="6245788"/>
            <a:ext cx="2340864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</a:t>
            </a:r>
            <a:endParaRPr lang="en-US" sz="1200" dirty="0"/>
          </a:p>
        </p:txBody>
      </p:sp>
      <p:cxnSp>
        <p:nvCxnSpPr>
          <p:cNvPr id="113" name="直線單箭頭接點 112">
            <a:extLst>
              <a:ext uri="{FF2B5EF4-FFF2-40B4-BE49-F238E27FC236}">
                <a16:creationId xmlns:a16="http://schemas.microsoft.com/office/drawing/2014/main" id="{BA00D0C4-7333-B037-BF29-FBB6E9312140}"/>
              </a:ext>
            </a:extLst>
          </p:cNvPr>
          <p:cNvCxnSpPr>
            <a:cxnSpLocks/>
          </p:cNvCxnSpPr>
          <p:nvPr/>
        </p:nvCxnSpPr>
        <p:spPr>
          <a:xfrm flipV="1">
            <a:off x="813381" y="1499758"/>
            <a:ext cx="0" cy="45415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Text 5">
            <a:extLst>
              <a:ext uri="{FF2B5EF4-FFF2-40B4-BE49-F238E27FC236}">
                <a16:creationId xmlns:a16="http://schemas.microsoft.com/office/drawing/2014/main" id="{E30CFFEC-AD2A-EBAD-36EE-E23238F080AF}"/>
              </a:ext>
            </a:extLst>
          </p:cNvPr>
          <p:cNvSpPr/>
          <p:nvPr/>
        </p:nvSpPr>
        <p:spPr>
          <a:xfrm>
            <a:off x="-171558" y="5814997"/>
            <a:ext cx="109553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</a:t>
            </a:r>
            <a:r>
              <a:rPr lang="en-US" altLang="zh-TW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Margin High</a:t>
            </a:r>
            <a:endParaRPr lang="en-US" sz="1000" dirty="0"/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B41442CD-EA37-2EC9-9168-03FEB9A4C607}"/>
              </a:ext>
            </a:extLst>
          </p:cNvPr>
          <p:cNvSpPr/>
          <p:nvPr/>
        </p:nvSpPr>
        <p:spPr>
          <a:xfrm>
            <a:off x="-148916" y="1701210"/>
            <a:ext cx="1095538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High</a:t>
            </a:r>
            <a:r>
              <a:rPr lang="en-US" altLang="zh-TW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Margin Low</a:t>
            </a:r>
            <a:endParaRPr lang="en-US" sz="1000" dirty="0"/>
          </a:p>
        </p:txBody>
      </p:sp>
      <p:sp>
        <p:nvSpPr>
          <p:cNvPr id="121" name="Shape 9">
            <a:extLst>
              <a:ext uri="{FF2B5EF4-FFF2-40B4-BE49-F238E27FC236}">
                <a16:creationId xmlns:a16="http://schemas.microsoft.com/office/drawing/2014/main" id="{82CD2D85-1E46-0DAF-13AC-2C34746CBDEC}"/>
              </a:ext>
            </a:extLst>
          </p:cNvPr>
          <p:cNvSpPr/>
          <p:nvPr/>
        </p:nvSpPr>
        <p:spPr>
          <a:xfrm>
            <a:off x="6684886" y="1675813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AECE7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23" name="Shape 15">
            <a:extLst>
              <a:ext uri="{FF2B5EF4-FFF2-40B4-BE49-F238E27FC236}">
                <a16:creationId xmlns:a16="http://schemas.microsoft.com/office/drawing/2014/main" id="{AC32EFD0-1B07-175D-840E-998F42FF470C}"/>
              </a:ext>
            </a:extLst>
          </p:cNvPr>
          <p:cNvSpPr/>
          <p:nvPr/>
        </p:nvSpPr>
        <p:spPr>
          <a:xfrm>
            <a:off x="9147670" y="1675813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CEAEA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25" name="Shape 21">
            <a:extLst>
              <a:ext uri="{FF2B5EF4-FFF2-40B4-BE49-F238E27FC236}">
                <a16:creationId xmlns:a16="http://schemas.microsoft.com/office/drawing/2014/main" id="{A949B329-5FA2-31BA-7D81-4920AF0FF49A}"/>
              </a:ext>
            </a:extLst>
          </p:cNvPr>
          <p:cNvSpPr/>
          <p:nvPr/>
        </p:nvSpPr>
        <p:spPr>
          <a:xfrm>
            <a:off x="6684886" y="3772837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EAF3DE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27" name="Shape 27">
            <a:extLst>
              <a:ext uri="{FF2B5EF4-FFF2-40B4-BE49-F238E27FC236}">
                <a16:creationId xmlns:a16="http://schemas.microsoft.com/office/drawing/2014/main" id="{A2DC77F1-8651-B776-42C2-C1DC2BFE51C5}"/>
              </a:ext>
            </a:extLst>
          </p:cNvPr>
          <p:cNvSpPr/>
          <p:nvPr/>
        </p:nvSpPr>
        <p:spPr>
          <a:xfrm>
            <a:off x="9147670" y="3772837"/>
            <a:ext cx="2340864" cy="1975104"/>
          </a:xfrm>
          <a:prstGeom prst="roundRect">
            <a:avLst>
              <a:gd name="adj" fmla="val 6173"/>
            </a:avLst>
          </a:prstGeom>
          <a:solidFill>
            <a:srgbClr val="FFF8E1"/>
          </a:solidFill>
          <a:ln w="6350">
            <a:solidFill>
              <a:srgbClr val="D1D9E0"/>
            </a:solidFill>
            <a:prstDash val="solid"/>
          </a:ln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31" name="Shape 23">
            <a:extLst>
              <a:ext uri="{FF2B5EF4-FFF2-40B4-BE49-F238E27FC236}">
                <a16:creationId xmlns:a16="http://schemas.microsoft.com/office/drawing/2014/main" id="{5ECFFF31-8F87-5C21-0754-1522DDE9E77D}"/>
              </a:ext>
            </a:extLst>
          </p:cNvPr>
          <p:cNvSpPr/>
          <p:nvPr/>
        </p:nvSpPr>
        <p:spPr>
          <a:xfrm>
            <a:off x="6879958" y="3925095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Q0</a:t>
            </a:r>
            <a:endParaRPr lang="zh-TW" altLang="en-US" sz="1867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CA0C3A8E-92F3-10FD-8A25-2C10E5943D55}"/>
              </a:ext>
            </a:extLst>
          </p:cNvPr>
          <p:cNvSpPr/>
          <p:nvPr/>
        </p:nvSpPr>
        <p:spPr>
          <a:xfrm>
            <a:off x="6879957" y="1823130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D97706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Q2</a:t>
            </a:r>
            <a:endParaRPr lang="zh-TW" altLang="en-US" sz="1867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135" name="Shape 23">
            <a:extLst>
              <a:ext uri="{FF2B5EF4-FFF2-40B4-BE49-F238E27FC236}">
                <a16:creationId xmlns:a16="http://schemas.microsoft.com/office/drawing/2014/main" id="{A9799556-A52A-AD31-EA22-F033D06637B0}"/>
              </a:ext>
            </a:extLst>
          </p:cNvPr>
          <p:cNvSpPr/>
          <p:nvPr/>
        </p:nvSpPr>
        <p:spPr>
          <a:xfrm>
            <a:off x="9297831" y="3925095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FFC000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Q1</a:t>
            </a:r>
            <a:endParaRPr lang="zh-TW" altLang="en-US" sz="1867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137" name="Shape 23">
            <a:extLst>
              <a:ext uri="{FF2B5EF4-FFF2-40B4-BE49-F238E27FC236}">
                <a16:creationId xmlns:a16="http://schemas.microsoft.com/office/drawing/2014/main" id="{3BF5F875-14C6-5B19-E072-38B44BB674AC}"/>
              </a:ext>
            </a:extLst>
          </p:cNvPr>
          <p:cNvSpPr/>
          <p:nvPr/>
        </p:nvSpPr>
        <p:spPr>
          <a:xfrm>
            <a:off x="9297830" y="1823130"/>
            <a:ext cx="574579" cy="420624"/>
          </a:xfrm>
          <a:prstGeom prst="roundRect">
            <a:avLst>
              <a:gd name="adj" fmla="val 19231"/>
            </a:avLst>
          </a:prstGeom>
          <a:solidFill>
            <a:srgbClr val="DC2626"/>
          </a:solidFill>
          <a:ln/>
        </p:spPr>
        <p:txBody>
          <a:bodyPr/>
          <a:lstStyle/>
          <a:p>
            <a:r>
              <a:rPr lang="en-US" altLang="zh-TW" sz="1867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</a:rPr>
              <a:t>Q3</a:t>
            </a:r>
            <a:endParaRPr lang="zh-TW" altLang="en-US" sz="1867" b="1" dirty="0">
              <a:solidFill>
                <a:schemeClr val="bg1"/>
              </a:solidFill>
              <a:latin typeface="Cambria" pitchFamily="34" charset="0"/>
            </a:endParaRPr>
          </a:p>
        </p:txBody>
      </p:sp>
      <p:sp>
        <p:nvSpPr>
          <p:cNvPr id="139" name="Text 13">
            <a:extLst>
              <a:ext uri="{FF2B5EF4-FFF2-40B4-BE49-F238E27FC236}">
                <a16:creationId xmlns:a16="http://schemas.microsoft.com/office/drawing/2014/main" id="{7A7A197C-2A17-1432-F3B4-2BAE50EA0065}"/>
              </a:ext>
            </a:extLst>
          </p:cNvPr>
          <p:cNvSpPr/>
          <p:nvPr/>
        </p:nvSpPr>
        <p:spPr>
          <a:xfrm>
            <a:off x="6916534" y="4394487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267" dirty="0"/>
              <a:t>風險低，可直接輸出，零延遲</a:t>
            </a:r>
            <a:endParaRPr lang="en-US" sz="1267" dirty="0"/>
          </a:p>
        </p:txBody>
      </p:sp>
      <p:sp>
        <p:nvSpPr>
          <p:cNvPr id="141" name="Text 13">
            <a:extLst>
              <a:ext uri="{FF2B5EF4-FFF2-40B4-BE49-F238E27FC236}">
                <a16:creationId xmlns:a16="http://schemas.microsoft.com/office/drawing/2014/main" id="{D4438576-1EE0-E4B8-56E5-CFF23EA9F8B6}"/>
              </a:ext>
            </a:extLst>
          </p:cNvPr>
          <p:cNvSpPr/>
          <p:nvPr/>
        </p:nvSpPr>
        <p:spPr>
          <a:xfrm>
            <a:off x="9399534" y="4345719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267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需補充資料</a:t>
            </a:r>
            <a:endParaRPr lang="en-US" sz="1267" dirty="0"/>
          </a:p>
        </p:txBody>
      </p:sp>
      <p:sp>
        <p:nvSpPr>
          <p:cNvPr id="145" name="Text 13">
            <a:extLst>
              <a:ext uri="{FF2B5EF4-FFF2-40B4-BE49-F238E27FC236}">
                <a16:creationId xmlns:a16="http://schemas.microsoft.com/office/drawing/2014/main" id="{96C1F462-F905-9864-D5A9-95EA3432AB0C}"/>
              </a:ext>
            </a:extLst>
          </p:cNvPr>
          <p:cNvSpPr/>
          <p:nvPr/>
        </p:nvSpPr>
        <p:spPr>
          <a:xfrm>
            <a:off x="6916534" y="2301160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Human-Review</a:t>
            </a:r>
            <a:r>
              <a:rPr lang="zh-TW" altLang="en-US" sz="1267" dirty="0"/>
              <a:t> </a:t>
            </a:r>
            <a:endParaRPr lang="en-US" sz="1267" dirty="0"/>
          </a:p>
        </p:txBody>
      </p:sp>
      <p:sp>
        <p:nvSpPr>
          <p:cNvPr id="147" name="Text 13">
            <a:extLst>
              <a:ext uri="{FF2B5EF4-FFF2-40B4-BE49-F238E27FC236}">
                <a16:creationId xmlns:a16="http://schemas.microsoft.com/office/drawing/2014/main" id="{2749C480-ADAF-7556-BB9B-A9C0A6C44058}"/>
              </a:ext>
            </a:extLst>
          </p:cNvPr>
          <p:cNvSpPr/>
          <p:nvPr/>
        </p:nvSpPr>
        <p:spPr>
          <a:xfrm>
            <a:off x="9361465" y="2358770"/>
            <a:ext cx="1931375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zh-TW" altLang="en-US" sz="1267" dirty="0"/>
              <a:t>風險高，需阻擋、紀錄回報</a:t>
            </a:r>
            <a:r>
              <a:rPr lang="en-US" altLang="zh-TW" sz="1267" dirty="0"/>
              <a:t>audit</a:t>
            </a:r>
            <a:r>
              <a:rPr lang="zh-TW" altLang="en-US" sz="1267" dirty="0"/>
              <a:t>單位</a:t>
            </a:r>
            <a:endParaRPr lang="en-US" sz="1267" dirty="0"/>
          </a:p>
        </p:txBody>
      </p:sp>
      <p:sp>
        <p:nvSpPr>
          <p:cNvPr id="148" name="箭號: 向右 147">
            <a:extLst>
              <a:ext uri="{FF2B5EF4-FFF2-40B4-BE49-F238E27FC236}">
                <a16:creationId xmlns:a16="http://schemas.microsoft.com/office/drawing/2014/main" id="{E13B02EE-8B04-479B-D438-99D80F491735}"/>
              </a:ext>
            </a:extLst>
          </p:cNvPr>
          <p:cNvSpPr/>
          <p:nvPr/>
        </p:nvSpPr>
        <p:spPr>
          <a:xfrm>
            <a:off x="5970507" y="2900846"/>
            <a:ext cx="574944" cy="502049"/>
          </a:xfrm>
          <a:prstGeom prst="rightArrow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bg1"/>
              </a:solidFill>
            </a:endParaRPr>
          </a:p>
        </p:txBody>
      </p:sp>
      <p:sp>
        <p:nvSpPr>
          <p:cNvPr id="150" name="Text 13">
            <a:extLst>
              <a:ext uri="{FF2B5EF4-FFF2-40B4-BE49-F238E27FC236}">
                <a16:creationId xmlns:a16="http://schemas.microsoft.com/office/drawing/2014/main" id="{9A754A91-3492-DF84-FFEB-5175CC6B0A94}"/>
              </a:ext>
            </a:extLst>
          </p:cNvPr>
          <p:cNvSpPr/>
          <p:nvPr/>
        </p:nvSpPr>
        <p:spPr>
          <a:xfrm>
            <a:off x="5742528" y="3472058"/>
            <a:ext cx="1058182" cy="975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dirty="0"/>
              <a:t>S0~S3</a:t>
            </a:r>
            <a:r>
              <a:rPr lang="zh-TW" altLang="en-US" sz="1267" dirty="0"/>
              <a:t>風險分類觸發</a:t>
            </a:r>
            <a:r>
              <a:rPr lang="en-US" altLang="zh-TW" sz="1267" dirty="0"/>
              <a:t>Q0~Q3</a:t>
            </a:r>
            <a:r>
              <a:rPr lang="zh-TW" altLang="en-US" sz="1267" dirty="0"/>
              <a:t>路由，快速反應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1885102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6576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AA4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導入前後:AI 風險處理流程的差異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同一個風險,兩種完全不同的處理路徑 —— 對照業界痛點與 S0–S3 / Q0–Q3 / H0–H4 分級。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1783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現況:沒有 Runtime Trust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2048256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02920" y="20482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執行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14600" y="2276856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779776" y="2048256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779776" y="20482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業務人員事後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發現異常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91456" y="2276856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5056632" y="2048256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5056632" y="20482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 err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事後調閱</a:t>
            </a: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Log</a:t>
            </a:r>
          </a:p>
          <a:p>
            <a:pPr marL="0" indent="0" algn="ctr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050" b="1" dirty="0" err="1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不完整</a:t>
            </a: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68312" y="2276856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7333488" y="2048256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7333488" y="20482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法遵/稽核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事後補簽核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345168" y="2276856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9610344" y="2048256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DC262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610344" y="2048256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監管查核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難以重建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02920" y="28163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導入 Runtime Trust 後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081528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02920" y="30815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生成 /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執行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14600" y="3310128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2779776" y="3081528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2779776" y="30815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即時分級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S0–S3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791456" y="3310128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056632" y="3081528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5056632" y="30815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風險路由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Q0–Q3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68312" y="3310128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7333488" y="3081528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E6F5F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7333488" y="30815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鎖定+接管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H0–H4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345168" y="3310128"/>
            <a:ext cx="228600" cy="182880"/>
          </a:xfrm>
          <a:prstGeom prst="rightArrow">
            <a:avLst/>
          </a:prstGeom>
          <a:solidFill>
            <a:srgbClr val="9AA4C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9610344" y="3081528"/>
            <a:ext cx="1965960" cy="621792"/>
          </a:xfrm>
          <a:prstGeom prst="roundRect">
            <a:avLst>
              <a:gd name="adj" fmla="val 8824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9610344" y="3081528"/>
            <a:ext cx="1965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證據鏈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可重建可稽核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913632"/>
            <a:ext cx="3611880" cy="566928"/>
          </a:xfrm>
          <a:prstGeom prst="roundRect">
            <a:avLst>
              <a:gd name="adj" fmla="val 9677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685800" y="3977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S0–S3 訊號強度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85800" y="42245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 無風險 · S1 低度 · S2 中度 · S3 高度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288536" y="3913632"/>
            <a:ext cx="3611880" cy="566928"/>
          </a:xfrm>
          <a:prstGeom prst="roundRect">
            <a:avLst>
              <a:gd name="adj" fmla="val 9677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Text 37"/>
          <p:cNvSpPr/>
          <p:nvPr/>
        </p:nvSpPr>
        <p:spPr>
          <a:xfrm>
            <a:off x="4471416" y="3977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Q0–Q3 路由決策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471416" y="42245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Q0 放行 · Q1 補缺 · Q2 覆核 · Q3 阻斷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74152" y="3913632"/>
            <a:ext cx="3611880" cy="566928"/>
          </a:xfrm>
          <a:prstGeom prst="roundRect">
            <a:avLst>
              <a:gd name="adj" fmla="val 9677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8257032" y="39776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H0–H4 人工接管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8257032" y="422452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 自動 · H1 留存 · H2 建議覆核 · H3 強制覆核 · H4 接管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" y="45354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業界痛點回饋(訪談摘要)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4828032"/>
            <a:ext cx="5468112" cy="530352"/>
          </a:xfrm>
          <a:prstGeom prst="roundRect">
            <a:avLst>
              <a:gd name="adj" fmla="val 10345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6" name="Text 44"/>
          <p:cNvSpPr/>
          <p:nvPr/>
        </p:nvSpPr>
        <p:spPr>
          <a:xfrm>
            <a:off x="685800" y="4882896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金融法遵主管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85800" y="508406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「AI 到底講了什麼、為什麼放行,現在只能靠人工對帳,想辦法還原。」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135624" y="4828032"/>
            <a:ext cx="5468112" cy="530352"/>
          </a:xfrm>
          <a:prstGeom prst="roundRect">
            <a:avLst>
              <a:gd name="adj" fmla="val 10345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9" name="Text 47"/>
          <p:cNvSpPr/>
          <p:nvPr/>
        </p:nvSpPr>
        <p:spPr>
          <a:xfrm>
            <a:off x="6318504" y="4882896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資安長 / CISO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318504" y="5084064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「Guardrail 擋得住文字,但 Agent 真的要下單、運算跟資料的變動那一刻,我們完全看不到。」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" y="5449824"/>
            <a:ext cx="5468112" cy="530352"/>
          </a:xfrm>
          <a:prstGeom prst="roundRect">
            <a:avLst>
              <a:gd name="adj" fmla="val 10345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685800" y="5504688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33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稽核 / Audit 負責人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85800" y="5705856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「監理來查時,我們只能證明「有做過濾」,無法證明「那次決策有沒有被動過手腳」。」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135624" y="5449824"/>
            <a:ext cx="5468112" cy="530352"/>
          </a:xfrm>
          <a:prstGeom prst="roundRect">
            <a:avLst>
              <a:gd name="adj" fmla="val 10345"/>
            </a:avLst>
          </a:prstGeom>
          <a:solidFill>
            <a:srgbClr val="F3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5" name="Text 53"/>
          <p:cNvSpPr/>
          <p:nvPr/>
        </p:nvSpPr>
        <p:spPr>
          <a:xfrm>
            <a:off x="6318504" y="5504688"/>
            <a:ext cx="51023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 / 企業 AI 團隊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18504" y="5705856"/>
            <a:ext cx="5102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5B65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「我們要保證高風險輸出一定不會自動執行,但現有工具只能事後跑報表。」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02920" y="6144768"/>
            <a:ext cx="11183112" cy="411480"/>
          </a:xfrm>
          <a:prstGeom prst="roundRect">
            <a:avLst>
              <a:gd name="adj" fmla="val 13333"/>
            </a:avLst>
          </a:prstGeom>
          <a:solidFill>
            <a:schemeClr val="accent2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8" name="Text 56"/>
          <p:cNvSpPr/>
          <p:nvPr/>
        </p:nvSpPr>
        <p:spPr>
          <a:xfrm>
            <a:off x="777240" y="6144768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 err="1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前後差異:風險判斷從「發生之後」搬到「發生當下</a:t>
            </a:r>
            <a:r>
              <a:rPr lang="en-US" sz="12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」。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11475720" y="3657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4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02920" y="66568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AA4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RUNTIME TRUST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7680" y="121920"/>
            <a:ext cx="85344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467" b="1" kern="0" spc="-67" dirty="0">
                <a:solidFill>
                  <a:srgbClr val="1D1D1F"/>
                </a:solidFill>
                <a:latin typeface="SF Pro Display, Arial" pitchFamily="34" charset="0"/>
                <a:ea typeface="SF Pro Display, Arial" pitchFamily="34" charset="-122"/>
                <a:cs typeface="SF Pro Display, Arial" pitchFamily="34" charset="-120"/>
              </a:rPr>
              <a:t>銀行 AI 事故——四層防護</a:t>
            </a:r>
            <a:endParaRPr lang="en-US" sz="3467" dirty="0"/>
          </a:p>
        </p:txBody>
      </p:sp>
      <p:sp>
        <p:nvSpPr>
          <p:cNvPr id="3" name="Text 1"/>
          <p:cNvSpPr/>
          <p:nvPr/>
        </p:nvSpPr>
        <p:spPr>
          <a:xfrm>
            <a:off x="6315456" y="223853"/>
            <a:ext cx="609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TRUST · </a:t>
            </a:r>
            <a:r>
              <a:rPr lang="en-US" sz="1467" dirty="0" err="1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解碼層防護</a:t>
            </a:r>
            <a:endParaRPr lang="en-US" sz="1467" dirty="0"/>
          </a:p>
        </p:txBody>
      </p:sp>
      <p:sp>
        <p:nvSpPr>
          <p:cNvPr id="4" name="Shape 2"/>
          <p:cNvSpPr/>
          <p:nvPr/>
        </p:nvSpPr>
        <p:spPr>
          <a:xfrm>
            <a:off x="9265920" y="146304"/>
            <a:ext cx="2438400" cy="438912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5" name="Text 3"/>
          <p:cNvSpPr/>
          <p:nvPr/>
        </p:nvSpPr>
        <p:spPr>
          <a:xfrm>
            <a:off x="9265920" y="146304"/>
            <a:ext cx="2438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TRUST</a:t>
            </a:r>
            <a:endParaRPr lang="en-US" sz="1333" dirty="0"/>
          </a:p>
        </p:txBody>
      </p:sp>
      <p:sp>
        <p:nvSpPr>
          <p:cNvPr id="6" name="Shape 4"/>
          <p:cNvSpPr/>
          <p:nvPr/>
        </p:nvSpPr>
        <p:spPr>
          <a:xfrm>
            <a:off x="365760" y="778089"/>
            <a:ext cx="11460480" cy="341376"/>
          </a:xfrm>
          <a:prstGeom prst="roundRect">
            <a:avLst>
              <a:gd name="adj" fmla="val 28571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7" name="Text 5"/>
          <p:cNvSpPr/>
          <p:nvPr/>
        </p:nvSpPr>
        <p:spPr>
          <a:xfrm>
            <a:off x="609600" y="802473"/>
            <a:ext cx="2682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9600" y="948777"/>
            <a:ext cx="268224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金融查詢幻覺發生率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802473"/>
            <a:ext cx="2682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5,000萬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948777"/>
            <a:ext cx="268224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BofA Erica 累計請求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339840" y="802473"/>
            <a:ext cx="2682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39840" y="948777"/>
            <a:ext cx="268224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FINRA 幻覺合規警示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204960" y="802473"/>
            <a:ext cx="26822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dirty="0">
                <a:solidFill>
                  <a:srgbClr val="007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Lloyd's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04960" y="948777"/>
            <a:ext cx="2682240" cy="12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已推出 AI 幻覺保險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1217001"/>
            <a:ext cx="2779776" cy="475488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6" name="Shape 14"/>
          <p:cNvSpPr/>
          <p:nvPr/>
        </p:nvSpPr>
        <p:spPr>
          <a:xfrm>
            <a:off x="365760" y="1217001"/>
            <a:ext cx="2779776" cy="560832"/>
          </a:xfrm>
          <a:prstGeom prst="roundRect">
            <a:avLst>
              <a:gd name="adj" fmla="val 30769"/>
            </a:avLst>
          </a:prstGeom>
          <a:solidFill>
            <a:srgbClr val="E8F1FD"/>
          </a:solidFill>
          <a:ln w="12700">
            <a:solidFill>
              <a:srgbClr val="E8F1F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7" name="Shape 15"/>
          <p:cNvSpPr/>
          <p:nvPr/>
        </p:nvSpPr>
        <p:spPr>
          <a:xfrm>
            <a:off x="365760" y="1680297"/>
            <a:ext cx="2779776" cy="243840"/>
          </a:xfrm>
          <a:prstGeom prst="roundRect">
            <a:avLst>
              <a:gd name="adj" fmla="val 70000"/>
            </a:avLst>
          </a:prstGeom>
          <a:solidFill>
            <a:srgbClr val="E8F1FD"/>
          </a:solidFill>
          <a:ln w="12700">
            <a:solidFill>
              <a:srgbClr val="E8F1F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8" name="Shape 16"/>
          <p:cNvSpPr/>
          <p:nvPr/>
        </p:nvSpPr>
        <p:spPr>
          <a:xfrm>
            <a:off x="487680" y="1314537"/>
            <a:ext cx="438912" cy="341376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9" name="Text 17"/>
          <p:cNvSpPr/>
          <p:nvPr/>
        </p:nvSpPr>
        <p:spPr>
          <a:xfrm>
            <a:off x="487680" y="1314537"/>
            <a:ext cx="43891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99744" y="1302345"/>
            <a:ext cx="202387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004A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記錄</a:t>
            </a:r>
            <a:endParaRPr lang="en-US" sz="1733" dirty="0"/>
          </a:p>
        </p:txBody>
      </p:sp>
      <p:sp>
        <p:nvSpPr>
          <p:cNvPr id="21" name="Text 19"/>
          <p:cNvSpPr/>
          <p:nvPr/>
        </p:nvSpPr>
        <p:spPr>
          <a:xfrm>
            <a:off x="999744" y="1560576"/>
            <a:ext cx="2535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沒有記錄就沒有證據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7680" y="1948521"/>
            <a:ext cx="2535936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87680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4" name="Text 22"/>
          <p:cNvSpPr/>
          <p:nvPr/>
        </p:nvSpPr>
        <p:spPr>
          <a:xfrm>
            <a:off x="512064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7680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26" name="Text 24"/>
          <p:cNvSpPr/>
          <p:nvPr/>
        </p:nvSpPr>
        <p:spPr>
          <a:xfrm>
            <a:off x="512064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3B30"/>
                </a:solidFill>
              </a:rPr>
              <a:t>❌  現在的風險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7680" y="2216745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授信 AI 告訴客戶「利率 2.8%」，實際是 3.6%。客戶提告。銀行無法回答：推論過程是什麼？幻覺還是設計？</a:t>
            </a:r>
            <a:endParaRPr lang="en-US" sz="1133" dirty="0"/>
          </a:p>
        </p:txBody>
      </p:sp>
      <p:sp>
        <p:nvSpPr>
          <p:cNvPr id="28" name="Shape 26"/>
          <p:cNvSpPr/>
          <p:nvPr/>
        </p:nvSpPr>
        <p:spPr>
          <a:xfrm>
            <a:off x="609600" y="3071873"/>
            <a:ext cx="2535936" cy="0"/>
          </a:xfrm>
          <a:prstGeom prst="line">
            <a:avLst/>
          </a:prstGeom>
          <a:noFill/>
          <a:ln w="7620">
            <a:solidFill>
              <a:srgbClr val="E8E8E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29" name="Shape 27"/>
          <p:cNvSpPr/>
          <p:nvPr/>
        </p:nvSpPr>
        <p:spPr>
          <a:xfrm>
            <a:off x="487680" y="3111318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E8F1FD"/>
          </a:solidFill>
          <a:ln w="12700">
            <a:solidFill>
              <a:srgbClr val="E8F1F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30" name="Text 28"/>
          <p:cNvSpPr/>
          <p:nvPr/>
        </p:nvSpPr>
        <p:spPr>
          <a:xfrm>
            <a:off x="512064" y="311131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004AAD"/>
                </a:solidFill>
              </a:rPr>
              <a:t>✅  RUNTIME TRUST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7680" y="3355158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「2.8%」生成瞬間 Entropy 升高已記錄於 HMAC 稽核包。法庭調出：S1 知識盲區幻覺，非系統設計。責任立即釐清。</a:t>
            </a:r>
            <a:endParaRPr lang="en-US" sz="1133" dirty="0"/>
          </a:p>
        </p:txBody>
      </p:sp>
      <p:sp>
        <p:nvSpPr>
          <p:cNvPr id="32" name="Shape 30"/>
          <p:cNvSpPr/>
          <p:nvPr/>
        </p:nvSpPr>
        <p:spPr>
          <a:xfrm>
            <a:off x="487680" y="4793814"/>
            <a:ext cx="2535936" cy="390144"/>
          </a:xfrm>
          <a:prstGeom prst="roundRect">
            <a:avLst>
              <a:gd name="adj" fmla="val 50000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33" name="Text 31"/>
          <p:cNvSpPr/>
          <p:nvPr/>
        </p:nvSpPr>
        <p:spPr>
          <a:xfrm>
            <a:off x="487680" y="4793814"/>
            <a:ext cx="25359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每個 token 即時存證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267456" y="1217001"/>
            <a:ext cx="2779776" cy="475488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35" name="Shape 33"/>
          <p:cNvSpPr/>
          <p:nvPr/>
        </p:nvSpPr>
        <p:spPr>
          <a:xfrm>
            <a:off x="3267456" y="1217001"/>
            <a:ext cx="2779776" cy="633984"/>
          </a:xfrm>
          <a:prstGeom prst="roundRect">
            <a:avLst>
              <a:gd name="adj" fmla="val 30769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36" name="Shape 34"/>
          <p:cNvSpPr/>
          <p:nvPr/>
        </p:nvSpPr>
        <p:spPr>
          <a:xfrm>
            <a:off x="3267456" y="1680297"/>
            <a:ext cx="2779776" cy="243840"/>
          </a:xfrm>
          <a:prstGeom prst="roundRect">
            <a:avLst>
              <a:gd name="adj" fmla="val 70000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37" name="Shape 35"/>
          <p:cNvSpPr/>
          <p:nvPr/>
        </p:nvSpPr>
        <p:spPr>
          <a:xfrm>
            <a:off x="3389376" y="1314537"/>
            <a:ext cx="438912" cy="341376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38" name="Text 36"/>
          <p:cNvSpPr/>
          <p:nvPr/>
        </p:nvSpPr>
        <p:spPr>
          <a:xfrm>
            <a:off x="3389376" y="1314537"/>
            <a:ext cx="43891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901440" y="1302345"/>
            <a:ext cx="202387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CC7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即時警示</a:t>
            </a:r>
            <a:endParaRPr lang="en-US" sz="1733" dirty="0"/>
          </a:p>
        </p:txBody>
      </p:sp>
      <p:sp>
        <p:nvSpPr>
          <p:cNvPr id="40" name="Text 38"/>
          <p:cNvSpPr/>
          <p:nvPr/>
        </p:nvSpPr>
        <p:spPr>
          <a:xfrm>
            <a:off x="3389376" y="1680297"/>
            <a:ext cx="2535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事前防禦比事後賠償便宜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389376" y="1948521"/>
            <a:ext cx="2535936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42" name="Shape 40"/>
          <p:cNvSpPr/>
          <p:nvPr/>
        </p:nvSpPr>
        <p:spPr>
          <a:xfrm>
            <a:off x="3389376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43" name="Text 41"/>
          <p:cNvSpPr/>
          <p:nvPr/>
        </p:nvSpPr>
        <p:spPr>
          <a:xfrm>
            <a:off x="3413760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389376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45" name="Text 43"/>
          <p:cNvSpPr/>
          <p:nvPr/>
        </p:nvSpPr>
        <p:spPr>
          <a:xfrm>
            <a:off x="3413760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3B30"/>
                </a:solidFill>
              </a:rPr>
              <a:t>❌  現在的風險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389376" y="2216745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AML 篩查 AI 遭 Prompt Injection。攻擊者讓 AI 誤判 $200 萬可疑交易為正常，不發 SAR 警報。47 分鐘後才發現。</a:t>
            </a:r>
            <a:endParaRPr lang="en-US" sz="1133" dirty="0"/>
          </a:p>
        </p:txBody>
      </p:sp>
      <p:sp>
        <p:nvSpPr>
          <p:cNvPr id="47" name="Shape 45"/>
          <p:cNvSpPr/>
          <p:nvPr/>
        </p:nvSpPr>
        <p:spPr>
          <a:xfrm>
            <a:off x="3389376" y="3038166"/>
            <a:ext cx="2535936" cy="0"/>
          </a:xfrm>
          <a:prstGeom prst="line">
            <a:avLst/>
          </a:prstGeom>
          <a:noFill/>
          <a:ln w="7620">
            <a:solidFill>
              <a:srgbClr val="E8E8E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48" name="Shape 46"/>
          <p:cNvSpPr/>
          <p:nvPr/>
        </p:nvSpPr>
        <p:spPr>
          <a:xfrm>
            <a:off x="3389376" y="3111318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4E5"/>
          </a:solidFill>
          <a:ln w="12700">
            <a:solidFill>
              <a:srgbClr val="FFF4E5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49" name="Text 47"/>
          <p:cNvSpPr/>
          <p:nvPr/>
        </p:nvSpPr>
        <p:spPr>
          <a:xfrm>
            <a:off x="3413760" y="311131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CC7700"/>
                </a:solidFill>
              </a:rPr>
              <a:t>✅  RUNTIME TRUST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389376" y="3355158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Injection 讓 hidden state 偏移。Drift 特徵 &lt; 20μs 觸發 S3 熔斷，SAR 自動發出。攻擊失敗，記錄完整。</a:t>
            </a:r>
            <a:endParaRPr lang="en-US" sz="1133" dirty="0"/>
          </a:p>
        </p:txBody>
      </p:sp>
      <p:sp>
        <p:nvSpPr>
          <p:cNvPr id="51" name="Shape 49"/>
          <p:cNvSpPr/>
          <p:nvPr/>
        </p:nvSpPr>
        <p:spPr>
          <a:xfrm>
            <a:off x="3389376" y="4793814"/>
            <a:ext cx="2535936" cy="390144"/>
          </a:xfrm>
          <a:prstGeom prst="roundRect">
            <a:avLst>
              <a:gd name="adj" fmla="val 50000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52" name="Text 50"/>
          <p:cNvSpPr/>
          <p:nvPr/>
        </p:nvSpPr>
        <p:spPr>
          <a:xfrm>
            <a:off x="3389376" y="4793814"/>
            <a:ext cx="25359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攔截時機 &lt; 20μs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169152" y="1217001"/>
            <a:ext cx="2779776" cy="475488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54" name="Shape 52"/>
          <p:cNvSpPr/>
          <p:nvPr/>
        </p:nvSpPr>
        <p:spPr>
          <a:xfrm>
            <a:off x="6169152" y="1217001"/>
            <a:ext cx="2779776" cy="633984"/>
          </a:xfrm>
          <a:prstGeom prst="roundRect">
            <a:avLst>
              <a:gd name="adj" fmla="val 30769"/>
            </a:avLst>
          </a:prstGeom>
          <a:solidFill>
            <a:srgbClr val="E8F8EC"/>
          </a:solidFill>
          <a:ln w="12700">
            <a:solidFill>
              <a:srgbClr val="E8F8EC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55" name="Shape 53"/>
          <p:cNvSpPr/>
          <p:nvPr/>
        </p:nvSpPr>
        <p:spPr>
          <a:xfrm>
            <a:off x="6169152" y="1680297"/>
            <a:ext cx="2779776" cy="243840"/>
          </a:xfrm>
          <a:prstGeom prst="roundRect">
            <a:avLst>
              <a:gd name="adj" fmla="val 70000"/>
            </a:avLst>
          </a:prstGeom>
          <a:solidFill>
            <a:srgbClr val="E8F8EC"/>
          </a:solidFill>
          <a:ln w="12700">
            <a:solidFill>
              <a:srgbClr val="E8F8EC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56" name="Shape 54"/>
          <p:cNvSpPr/>
          <p:nvPr/>
        </p:nvSpPr>
        <p:spPr>
          <a:xfrm>
            <a:off x="6291072" y="1314537"/>
            <a:ext cx="438912" cy="341376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57" name="Text 55"/>
          <p:cNvSpPr/>
          <p:nvPr/>
        </p:nvSpPr>
        <p:spPr>
          <a:xfrm>
            <a:off x="6291072" y="1314537"/>
            <a:ext cx="43891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03136" y="1302345"/>
            <a:ext cx="202387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248A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事後還原</a:t>
            </a:r>
            <a:endParaRPr lang="en-US" sz="1733" dirty="0"/>
          </a:p>
        </p:txBody>
      </p:sp>
      <p:sp>
        <p:nvSpPr>
          <p:cNvPr id="59" name="Text 57"/>
          <p:cNvSpPr/>
          <p:nvPr/>
        </p:nvSpPr>
        <p:spPr>
          <a:xfrm>
            <a:off x="6291072" y="1680297"/>
            <a:ext cx="2535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FINRA 查核，說不清楚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91072" y="1948521"/>
            <a:ext cx="2535936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61" name="Shape 59"/>
          <p:cNvSpPr/>
          <p:nvPr/>
        </p:nvSpPr>
        <p:spPr>
          <a:xfrm>
            <a:off x="6291072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62" name="Text 60"/>
          <p:cNvSpPr/>
          <p:nvPr/>
        </p:nvSpPr>
        <p:spPr>
          <a:xfrm>
            <a:off x="6315456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291072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64" name="Text 62"/>
          <p:cNvSpPr/>
          <p:nvPr/>
        </p:nvSpPr>
        <p:spPr>
          <a:xfrm>
            <a:off x="6315456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3B30"/>
                </a:solidFill>
              </a:rPr>
              <a:t>❌  現在的風險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291072" y="2216745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FINRA 要求：「過去 12 個月 AI 授信，有多少是模型不確定但仍輸出的？」沒有 token 層記錄，查核從 2 週拖到 6 個月。</a:t>
            </a:r>
            <a:endParaRPr lang="en-US" sz="1133" dirty="0"/>
          </a:p>
        </p:txBody>
      </p:sp>
      <p:sp>
        <p:nvSpPr>
          <p:cNvPr id="66" name="Shape 64"/>
          <p:cNvSpPr/>
          <p:nvPr/>
        </p:nvSpPr>
        <p:spPr>
          <a:xfrm>
            <a:off x="6291072" y="3038166"/>
            <a:ext cx="2535936" cy="0"/>
          </a:xfrm>
          <a:prstGeom prst="line">
            <a:avLst/>
          </a:prstGeom>
          <a:noFill/>
          <a:ln w="7620">
            <a:solidFill>
              <a:srgbClr val="E8E8E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67" name="Shape 65"/>
          <p:cNvSpPr/>
          <p:nvPr/>
        </p:nvSpPr>
        <p:spPr>
          <a:xfrm>
            <a:off x="6291072" y="3111318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E8F8EC"/>
          </a:solidFill>
          <a:ln w="12700">
            <a:solidFill>
              <a:srgbClr val="E8F8EC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68" name="Text 66"/>
          <p:cNvSpPr/>
          <p:nvPr/>
        </p:nvSpPr>
        <p:spPr>
          <a:xfrm>
            <a:off x="6315456" y="311131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248A3D"/>
                </a:solidFill>
              </a:rPr>
              <a:t>✅  RUNTIME TRUST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6291072" y="3355158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S0–S3 分類統計一鍵調出。「15 萬筆，S0 89%、S1 9%、S2 1.8%、S3 0.2%，全部附 HMAC 稽核包。」查核 2 週結束。</a:t>
            </a:r>
            <a:endParaRPr lang="en-US" sz="1133" dirty="0"/>
          </a:p>
        </p:txBody>
      </p:sp>
      <p:sp>
        <p:nvSpPr>
          <p:cNvPr id="70" name="Shape 68"/>
          <p:cNvSpPr/>
          <p:nvPr/>
        </p:nvSpPr>
        <p:spPr>
          <a:xfrm>
            <a:off x="6291072" y="4793814"/>
            <a:ext cx="2535936" cy="390144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 w="12700">
            <a:solidFill>
              <a:srgbClr val="34C759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71" name="Text 69"/>
          <p:cNvSpPr/>
          <p:nvPr/>
        </p:nvSpPr>
        <p:spPr>
          <a:xfrm>
            <a:off x="6291072" y="4793814"/>
            <a:ext cx="25359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查核 6 個月 → 2 週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9070848" y="1217001"/>
            <a:ext cx="2779776" cy="4754880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6350">
            <a:solidFill>
              <a:srgbClr val="E8E8E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73" name="Shape 71"/>
          <p:cNvSpPr/>
          <p:nvPr/>
        </p:nvSpPr>
        <p:spPr>
          <a:xfrm>
            <a:off x="9070848" y="1217001"/>
            <a:ext cx="2779776" cy="633984"/>
          </a:xfrm>
          <a:prstGeom prst="roundRect">
            <a:avLst>
              <a:gd name="adj" fmla="val 30769"/>
            </a:avLst>
          </a:prstGeom>
          <a:solidFill>
            <a:srgbClr val="F5EEFA"/>
          </a:solidFill>
          <a:ln w="12700">
            <a:solidFill>
              <a:srgbClr val="F5EEFA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74" name="Shape 72"/>
          <p:cNvSpPr/>
          <p:nvPr/>
        </p:nvSpPr>
        <p:spPr>
          <a:xfrm>
            <a:off x="9070848" y="1680297"/>
            <a:ext cx="2779776" cy="243840"/>
          </a:xfrm>
          <a:prstGeom prst="roundRect">
            <a:avLst>
              <a:gd name="adj" fmla="val 70000"/>
            </a:avLst>
          </a:prstGeom>
          <a:solidFill>
            <a:srgbClr val="F5EEFA"/>
          </a:solidFill>
          <a:ln w="12700">
            <a:solidFill>
              <a:srgbClr val="F5EEFA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75" name="Shape 73"/>
          <p:cNvSpPr/>
          <p:nvPr/>
        </p:nvSpPr>
        <p:spPr>
          <a:xfrm>
            <a:off x="9192768" y="1314537"/>
            <a:ext cx="438912" cy="341376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76" name="Text 74"/>
          <p:cNvSpPr/>
          <p:nvPr/>
        </p:nvSpPr>
        <p:spPr>
          <a:xfrm>
            <a:off x="9192768" y="1314537"/>
            <a:ext cx="43891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704832" y="1302345"/>
            <a:ext cx="2023872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8B3D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文化轉變</a:t>
            </a:r>
            <a:endParaRPr lang="en-US" sz="1733" dirty="0"/>
          </a:p>
        </p:txBody>
      </p:sp>
      <p:sp>
        <p:nvSpPr>
          <p:cNvPr id="78" name="Text 76"/>
          <p:cNvSpPr/>
          <p:nvPr/>
        </p:nvSpPr>
        <p:spPr>
          <a:xfrm>
            <a:off x="9192768" y="1680297"/>
            <a:ext cx="25359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E6E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Lloyd's 已為 AI 幻覺定價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9192768" y="1948521"/>
            <a:ext cx="2535936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400" dirty="0"/>
          </a:p>
        </p:txBody>
      </p:sp>
      <p:sp>
        <p:nvSpPr>
          <p:cNvPr id="80" name="Shape 78"/>
          <p:cNvSpPr/>
          <p:nvPr/>
        </p:nvSpPr>
        <p:spPr>
          <a:xfrm>
            <a:off x="9192768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81" name="Text 79"/>
          <p:cNvSpPr/>
          <p:nvPr/>
        </p:nvSpPr>
        <p:spPr>
          <a:xfrm>
            <a:off x="9217152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9192768" y="1972905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FF0EF"/>
          </a:solidFill>
          <a:ln w="12700">
            <a:solidFill>
              <a:srgbClr val="FFF0EF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83" name="Text 81"/>
          <p:cNvSpPr/>
          <p:nvPr/>
        </p:nvSpPr>
        <p:spPr>
          <a:xfrm>
            <a:off x="9217152" y="1972905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FF3B30"/>
                </a:solidFill>
              </a:rPr>
              <a:t>❌  現在的風險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9192768" y="2216745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Lloyd's 2025/5 推出 AI 幻覺保險。Scaled Cognition 募資 $1 億做幻覺控制。風控部門開始問：「我們的 AI 有治理機制嗎？」</a:t>
            </a:r>
            <a:endParaRPr lang="en-US" sz="1133" dirty="0"/>
          </a:p>
        </p:txBody>
      </p:sp>
      <p:sp>
        <p:nvSpPr>
          <p:cNvPr id="85" name="Shape 83"/>
          <p:cNvSpPr/>
          <p:nvPr/>
        </p:nvSpPr>
        <p:spPr>
          <a:xfrm>
            <a:off x="9192768" y="3038166"/>
            <a:ext cx="2535936" cy="0"/>
          </a:xfrm>
          <a:prstGeom prst="line">
            <a:avLst/>
          </a:prstGeom>
          <a:noFill/>
          <a:ln w="7620">
            <a:solidFill>
              <a:srgbClr val="E8E8ED"/>
            </a:solidFill>
            <a:prstDash val="solid"/>
          </a:ln>
        </p:spPr>
        <p:txBody>
          <a:bodyPr/>
          <a:lstStyle/>
          <a:p>
            <a:endParaRPr lang="zh-TW" altLang="en-US" sz="2400"/>
          </a:p>
        </p:txBody>
      </p:sp>
      <p:sp>
        <p:nvSpPr>
          <p:cNvPr id="86" name="Shape 84"/>
          <p:cNvSpPr/>
          <p:nvPr/>
        </p:nvSpPr>
        <p:spPr>
          <a:xfrm>
            <a:off x="9192768" y="3111318"/>
            <a:ext cx="2535936" cy="219456"/>
          </a:xfrm>
          <a:prstGeom prst="roundRect">
            <a:avLst>
              <a:gd name="adj" fmla="val 33333"/>
            </a:avLst>
          </a:prstGeom>
          <a:solidFill>
            <a:srgbClr val="F5EEFA"/>
          </a:solidFill>
          <a:ln w="12700">
            <a:solidFill>
              <a:srgbClr val="F5EEFA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87" name="Text 85"/>
          <p:cNvSpPr/>
          <p:nvPr/>
        </p:nvSpPr>
        <p:spPr>
          <a:xfrm>
            <a:off x="9217152" y="3111318"/>
            <a:ext cx="2487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8B3DC0"/>
                </a:solidFill>
              </a:rPr>
              <a:t>✅  RUNTIME TRUST</a:t>
            </a:r>
            <a:endParaRPr lang="en-US" sz="1000" dirty="0"/>
          </a:p>
        </p:txBody>
      </p:sp>
      <p:sp>
        <p:nvSpPr>
          <p:cNvPr id="88" name="Text 86"/>
          <p:cNvSpPr/>
          <p:nvPr/>
        </p:nvSpPr>
        <p:spPr>
          <a:xfrm>
            <a:off x="9192768" y="3355158"/>
            <a:ext cx="2535936" cy="1365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133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裝 RUNTIME TRUST：token 層治理證明，保費較低，監管關係更好，出事時法律風險可控。沒裝：Lloyd's 保單越來越難拿。</a:t>
            </a:r>
            <a:endParaRPr lang="en-US" sz="1133" dirty="0"/>
          </a:p>
        </p:txBody>
      </p:sp>
      <p:sp>
        <p:nvSpPr>
          <p:cNvPr id="89" name="Shape 87"/>
          <p:cNvSpPr/>
          <p:nvPr/>
        </p:nvSpPr>
        <p:spPr>
          <a:xfrm>
            <a:off x="9192768" y="4793814"/>
            <a:ext cx="2535936" cy="390144"/>
          </a:xfrm>
          <a:prstGeom prst="roundRect">
            <a:avLst>
              <a:gd name="adj" fmla="val 50000"/>
            </a:avLst>
          </a:prstGeom>
          <a:solidFill>
            <a:srgbClr val="AF52DE"/>
          </a:solidFill>
          <a:ln w="12700">
            <a:solidFill>
              <a:srgbClr val="AF52DE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90" name="Text 88"/>
          <p:cNvSpPr/>
          <p:nvPr/>
        </p:nvSpPr>
        <p:spPr>
          <a:xfrm>
            <a:off x="9192768" y="4793814"/>
            <a:ext cx="2535936" cy="390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有記錄 = 更低保費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365760" y="6008457"/>
            <a:ext cx="11460480" cy="268224"/>
          </a:xfrm>
          <a:prstGeom prst="roundRect">
            <a:avLst>
              <a:gd name="adj" fmla="val 36364"/>
            </a:avLst>
          </a:prstGeom>
          <a:solidFill>
            <a:srgbClr val="E8E8ED"/>
          </a:solidFill>
          <a:ln w="12700">
            <a:solidFill>
              <a:srgbClr val="E8E8E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92" name="Text 90"/>
          <p:cNvSpPr/>
          <p:nvPr/>
        </p:nvSpPr>
        <p:spPr>
          <a:xfrm>
            <a:off x="268224" y="6079911"/>
            <a:ext cx="146304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b="1" dirty="0">
                <a:solidFill>
                  <a:srgbClr val="6E6E73"/>
                </a:solidFill>
              </a:rPr>
              <a:t>競爭者缺口</a:t>
            </a:r>
            <a:endParaRPr lang="en-US" sz="1000" dirty="0"/>
          </a:p>
        </p:txBody>
      </p:sp>
      <p:sp>
        <p:nvSpPr>
          <p:cNvPr id="93" name="Text 91"/>
          <p:cNvSpPr/>
          <p:nvPr/>
        </p:nvSpPr>
        <p:spPr>
          <a:xfrm>
            <a:off x="999744" y="6079911"/>
            <a:ext cx="1828800" cy="2682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r>
              <a:rPr lang="en-US" sz="1000" b="1" dirty="0">
                <a:solidFill>
                  <a:srgbClr val="6E6E73"/>
                </a:solidFill>
              </a:rPr>
              <a:t>Shieldbase  </a:t>
            </a:r>
            <a:r>
              <a:rPr lang="en-US" sz="933" dirty="0">
                <a:solidFill>
                  <a:srgbClr val="6E6E73"/>
                </a:solidFill>
              </a:rPr>
              <a:t>管員工用哪些 AI，看不到推論</a:t>
            </a:r>
            <a:endParaRPr lang="en-US" sz="1000" dirty="0"/>
          </a:p>
        </p:txBody>
      </p:sp>
      <p:sp>
        <p:nvSpPr>
          <p:cNvPr id="94" name="Text 92"/>
          <p:cNvSpPr/>
          <p:nvPr/>
        </p:nvSpPr>
        <p:spPr>
          <a:xfrm>
            <a:off x="3267456" y="6079911"/>
            <a:ext cx="1828800" cy="2682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r>
              <a:rPr lang="en-US" sz="1000" b="1" dirty="0">
                <a:solidFill>
                  <a:srgbClr val="CC3377"/>
                </a:solidFill>
              </a:rPr>
              <a:t>HiddenLayer  </a:t>
            </a:r>
            <a:r>
              <a:rPr lang="en-US" sz="933" dirty="0">
                <a:solidFill>
                  <a:srgbClr val="6E6E73"/>
                </a:solidFill>
              </a:rPr>
              <a:t>部署前掃描，不攔推論時幻覺</a:t>
            </a:r>
            <a:endParaRPr lang="en-US" sz="1000" dirty="0"/>
          </a:p>
        </p:txBody>
      </p:sp>
      <p:sp>
        <p:nvSpPr>
          <p:cNvPr id="95" name="Text 93"/>
          <p:cNvSpPr/>
          <p:nvPr/>
        </p:nvSpPr>
        <p:spPr>
          <a:xfrm>
            <a:off x="5575543" y="6069417"/>
            <a:ext cx="1682496" cy="2682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r>
              <a:rPr lang="en-US" sz="1000" b="1" dirty="0">
                <a:solidFill>
                  <a:srgbClr val="AF52DE"/>
                </a:solidFill>
              </a:rPr>
              <a:t>WitnessAI  </a:t>
            </a:r>
            <a:r>
              <a:rPr lang="en-US" sz="933" dirty="0">
                <a:solidFill>
                  <a:srgbClr val="6E6E73"/>
                </a:solidFill>
              </a:rPr>
              <a:t>攔 API 呼叫，不攔 token 幻覺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813073" y="6079911"/>
            <a:ext cx="1536192" cy="2682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r>
              <a:rPr lang="en-US" sz="1000" b="1" dirty="0">
                <a:solidFill>
                  <a:srgbClr val="FF9500"/>
                </a:solidFill>
              </a:rPr>
              <a:t>Lasso  </a:t>
            </a:r>
            <a:r>
              <a:rPr lang="en-US" sz="933" dirty="0">
                <a:solidFill>
                  <a:srgbClr val="6E6E73"/>
                </a:solidFill>
              </a:rPr>
              <a:t>輸出後過濾，無稽核軌跡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9561727" y="6105597"/>
            <a:ext cx="2072640" cy="200268"/>
          </a:xfrm>
          <a:prstGeom prst="roundRect">
            <a:avLst>
              <a:gd name="adj" fmla="val 33333"/>
            </a:avLst>
          </a:prstGeom>
          <a:solidFill>
            <a:srgbClr val="E8F1FD"/>
          </a:solidFill>
          <a:ln w="12700">
            <a:solidFill>
              <a:srgbClr val="E8F1FD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98" name="Text 96"/>
          <p:cNvSpPr/>
          <p:nvPr/>
        </p:nvSpPr>
        <p:spPr>
          <a:xfrm>
            <a:off x="9497568" y="6055527"/>
            <a:ext cx="2694432" cy="26822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r>
              <a:rPr lang="en-US" sz="1000" b="1" dirty="0">
                <a:solidFill>
                  <a:srgbClr val="0071E3"/>
                </a:solidFill>
              </a:rPr>
              <a:t>RUNTIME TRUST ★  </a:t>
            </a:r>
            <a:r>
              <a:rPr lang="en-US" sz="933" dirty="0">
                <a:solidFill>
                  <a:srgbClr val="0071E3"/>
                </a:solidFill>
              </a:rPr>
              <a:t>在推論瞬間即時記錄＋攔截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96977" y="5466608"/>
            <a:ext cx="11460480" cy="414528"/>
          </a:xfrm>
          <a:prstGeom prst="roundRect">
            <a:avLst>
              <a:gd name="adj" fmla="val 35294"/>
            </a:avLst>
          </a:prstGeom>
          <a:solidFill>
            <a:srgbClr val="0071E3"/>
          </a:solidFill>
          <a:ln w="12700">
            <a:solidFill>
              <a:srgbClr val="0071E3"/>
            </a:solidFill>
            <a:prstDash val="solid"/>
          </a:ln>
          <a:effectLst>
            <a:outerShdw blurRad="152400" dist="508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 sz="2400"/>
          </a:p>
        </p:txBody>
      </p:sp>
      <p:sp>
        <p:nvSpPr>
          <p:cNvPr id="100" name="Text 98"/>
          <p:cNvSpPr/>
          <p:nvPr/>
        </p:nvSpPr>
        <p:spPr>
          <a:xfrm>
            <a:off x="446415" y="5483357"/>
            <a:ext cx="11119104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67" b="1" dirty="0">
                <a:solidFill>
                  <a:srgbClr val="FFFFFF"/>
                </a:solidFill>
              </a:rPr>
              <a:t>RUNTIME TRUST 三個 ROI：</a:t>
            </a:r>
            <a:r>
              <a:rPr lang="en-US" sz="1200" dirty="0">
                <a:solidFill>
                  <a:srgbClr val="C8E0FF"/>
                </a:solidFill>
              </a:rPr>
              <a:t>  ① 降低保費（Lloyd's：有記錄 = 低風險）  ·  ② 加速查核（6 個月 → 2 週）  ·  ③ 阻斷 AML 攻擊（&lt; 20μs 熔斷）</a:t>
            </a:r>
            <a:r>
              <a:rPr lang="en-US" sz="1267" b="1" dirty="0">
                <a:solidFill>
                  <a:srgbClr val="FFFFFF"/>
                </a:solidFill>
              </a:rPr>
              <a:t>  ·  一個工具，三個 ROI。</a:t>
            </a:r>
            <a:endParaRPr lang="en-US" sz="1267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6F4EC-53AE-740A-5D25-F1BABE7DA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E8A02881-E162-7BBC-A0C8-2432813B820F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800" b="1" dirty="0">
                <a:solidFill>
                  <a:srgbClr val="1F2937"/>
                </a:solidFill>
              </a:rPr>
              <a:t>市場規模</a:t>
            </a:r>
            <a:endParaRPr 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87619A3-AA57-1F7C-8BD5-D5F5D6E8E3D4}"/>
              </a:ext>
            </a:extLst>
          </p:cNvPr>
          <p:cNvSpPr txBox="1"/>
          <p:nvPr/>
        </p:nvSpPr>
        <p:spPr>
          <a:xfrm>
            <a:off x="502920" y="1156996"/>
            <a:ext cx="1067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zh-TW" dirty="0"/>
              <a:t>以台灣約</a:t>
            </a:r>
            <a:r>
              <a:rPr lang="en-US" altLang="zh-TW" dirty="0"/>
              <a:t>40</a:t>
            </a:r>
            <a:r>
              <a:rPr lang="zh-TW" altLang="zh-TW" dirty="0"/>
              <a:t>家銀行、</a:t>
            </a:r>
            <a:r>
              <a:rPr lang="en-US" altLang="zh-TW" dirty="0"/>
              <a:t>50</a:t>
            </a:r>
            <a:r>
              <a:rPr lang="zh-TW" altLang="zh-TW" dirty="0"/>
              <a:t>家保險公司以及其他如證券、租賃等金融公司來估算，未來五年整體</a:t>
            </a:r>
            <a:r>
              <a:rPr lang="en-US" altLang="zh-TW" dirty="0"/>
              <a:t>AI budget</a:t>
            </a:r>
            <a:r>
              <a:rPr lang="zh-TW" altLang="zh-TW" dirty="0"/>
              <a:t>以及</a:t>
            </a:r>
            <a:r>
              <a:rPr lang="en-US" altLang="zh-TW" dirty="0"/>
              <a:t>Control Platform</a:t>
            </a:r>
            <a:r>
              <a:rPr lang="zh-TW" altLang="zh-TW" dirty="0"/>
              <a:t>的</a:t>
            </a:r>
            <a:r>
              <a:rPr lang="en-US" altLang="zh-TW" dirty="0"/>
              <a:t>TAM</a:t>
            </a:r>
            <a:r>
              <a:rPr lang="zh-TW" altLang="zh-TW" dirty="0"/>
              <a:t>如下表</a:t>
            </a:r>
            <a:endParaRPr lang="zh-TW" altLang="en-US" dirty="0"/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42BB623-3417-83C9-0C62-1D6095264A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3350840"/>
              </p:ext>
            </p:extLst>
          </p:nvPr>
        </p:nvGraphicFramePr>
        <p:xfrm>
          <a:off x="869678" y="2014188"/>
          <a:ext cx="6785156" cy="118948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695952">
                  <a:extLst>
                    <a:ext uri="{9D8B030D-6E8A-4147-A177-3AD203B41FA5}">
                      <a16:colId xmlns:a16="http://schemas.microsoft.com/office/drawing/2014/main" val="868330519"/>
                    </a:ext>
                  </a:extLst>
                </a:gridCol>
                <a:gridCol w="1695952">
                  <a:extLst>
                    <a:ext uri="{9D8B030D-6E8A-4147-A177-3AD203B41FA5}">
                      <a16:colId xmlns:a16="http://schemas.microsoft.com/office/drawing/2014/main" val="120149991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1101935259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36902946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Year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AI Budget (NTD)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Control Platform 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TAM (NTD)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797727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2026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130億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15%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19.5億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80546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2027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185億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18%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33億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3600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2028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265億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22%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58億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101561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2029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360億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26%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94億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96240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2030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490億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</a:rPr>
                        <a:t>30%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</a:rPr>
                        <a:t>147億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2112620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CBE6014-B27D-A04F-BE99-17B49775BD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201527"/>
              </p:ext>
            </p:extLst>
          </p:nvPr>
        </p:nvGraphicFramePr>
        <p:xfrm>
          <a:off x="869678" y="4060862"/>
          <a:ext cx="6785156" cy="118948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695952">
                  <a:extLst>
                    <a:ext uri="{9D8B030D-6E8A-4147-A177-3AD203B41FA5}">
                      <a16:colId xmlns:a16="http://schemas.microsoft.com/office/drawing/2014/main" val="242435975"/>
                    </a:ext>
                  </a:extLst>
                </a:gridCol>
                <a:gridCol w="1695952">
                  <a:extLst>
                    <a:ext uri="{9D8B030D-6E8A-4147-A177-3AD203B41FA5}">
                      <a16:colId xmlns:a16="http://schemas.microsoft.com/office/drawing/2014/main" val="3857977906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4240518932"/>
                    </a:ext>
                  </a:extLst>
                </a:gridCol>
                <a:gridCol w="1696626">
                  <a:extLst>
                    <a:ext uri="{9D8B030D-6E8A-4147-A177-3AD203B41FA5}">
                      <a16:colId xmlns:a16="http://schemas.microsoft.com/office/drawing/2014/main" val="278011058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Year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AI Budget (USD)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Control Platform 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TAM (USD)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6939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 dirty="0">
                          <a:effectLst/>
                        </a:rPr>
                        <a:t>2026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40B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15%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197252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2027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60B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18%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10.8B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46622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2028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85B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22%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18.7B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031024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2029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120B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26%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31.2B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6350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2030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>
                          <a:effectLst/>
                        </a:rPr>
                        <a:t>165B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zh-TW" sz="1200">
                          <a:effectLst/>
                        </a:rPr>
                        <a:t>30%</a:t>
                      </a:r>
                      <a:endParaRPr lang="zh-TW" sz="120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200" dirty="0">
                          <a:effectLst/>
                        </a:rPr>
                        <a:t>49.5B</a:t>
                      </a:r>
                      <a:endParaRPr lang="zh-TW" sz="1200" dirty="0">
                        <a:effectLst/>
                        <a:latin typeface="Arial" panose="020B0604020202020204" pitchFamily="34" charset="0"/>
                        <a:ea typeface="新細明體" panose="02020500000000000000" pitchFamily="18" charset="-12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294611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1336B535-766B-65EF-B89B-AC028196F340}"/>
              </a:ext>
            </a:extLst>
          </p:cNvPr>
          <p:cNvSpPr txBox="1"/>
          <p:nvPr/>
        </p:nvSpPr>
        <p:spPr>
          <a:xfrm>
            <a:off x="502917" y="3360090"/>
            <a:ext cx="106751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zh-TW" dirty="0"/>
              <a:t>美國有超過</a:t>
            </a:r>
            <a:r>
              <a:rPr lang="en-US" altLang="zh-TW" dirty="0"/>
              <a:t>4,500</a:t>
            </a:r>
            <a:r>
              <a:rPr lang="zh-TW" altLang="zh-TW" dirty="0"/>
              <a:t>家銀行以及</a:t>
            </a:r>
            <a:r>
              <a:rPr lang="en-US" altLang="zh-TW" dirty="0"/>
              <a:t>4,500</a:t>
            </a:r>
            <a:r>
              <a:rPr lang="zh-TW" altLang="zh-TW" dirty="0"/>
              <a:t>家保險公司，另外還有大型證券商及資產管理公司等，預估的</a:t>
            </a:r>
            <a:r>
              <a:rPr lang="en-US" altLang="zh-TW" dirty="0"/>
              <a:t>AI Control Platform TAM</a:t>
            </a:r>
            <a:r>
              <a:rPr lang="zh-TW" altLang="zh-TW" dirty="0"/>
              <a:t>如下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C8E25FD-E491-8A8A-A79F-93CBE6210473}"/>
              </a:ext>
            </a:extLst>
          </p:cNvPr>
          <p:cNvSpPr txBox="1"/>
          <p:nvPr/>
        </p:nvSpPr>
        <p:spPr>
          <a:xfrm>
            <a:off x="502918" y="5455502"/>
            <a:ext cx="1067515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值得一提的是，目前由於法規安全性限制，</a:t>
            </a:r>
            <a:r>
              <a:rPr lang="en-US" altLang="zh-TW" dirty="0"/>
              <a:t>AI</a:t>
            </a:r>
            <a:r>
              <a:rPr lang="zh-TW" altLang="en-US" dirty="0"/>
              <a:t>大多僅被用在</a:t>
            </a:r>
            <a:r>
              <a:rPr lang="en-US" altLang="zh-TW" dirty="0"/>
              <a:t>Chat</a:t>
            </a:r>
            <a:r>
              <a:rPr lang="zh-TW" altLang="en-US" dirty="0"/>
              <a:t>或研究資料收集，因此</a:t>
            </a:r>
            <a:r>
              <a:rPr lang="en-US" altLang="zh-TW" dirty="0"/>
              <a:t>AI Control Platform </a:t>
            </a:r>
            <a:r>
              <a:rPr lang="zh-TW" altLang="en-US" dirty="0"/>
              <a:t>預算僅占約</a:t>
            </a:r>
            <a:r>
              <a:rPr lang="en-US" altLang="zh-TW" dirty="0"/>
              <a:t>15%</a:t>
            </a:r>
            <a:r>
              <a:rPr lang="zh-TW" altLang="en-US" dirty="0"/>
              <a:t>，未來</a:t>
            </a:r>
            <a:r>
              <a:rPr lang="en-US" altLang="zh-TW" dirty="0"/>
              <a:t>AI agent</a:t>
            </a:r>
            <a:r>
              <a:rPr lang="zh-TW" altLang="en-US" dirty="0"/>
              <a:t>應用廣泛之後，</a:t>
            </a:r>
            <a:r>
              <a:rPr lang="en-US" altLang="zh-TW" dirty="0"/>
              <a:t>AI Control Platform</a:t>
            </a:r>
            <a:r>
              <a:rPr lang="zh-TW" altLang="en-US" dirty="0"/>
              <a:t>的需求將大幅提升，達到總預算的</a:t>
            </a:r>
            <a:r>
              <a:rPr lang="en-US" altLang="zh-TW" dirty="0"/>
              <a:t>30%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2710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C447A-1747-C161-EB8B-9CF33999A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3">
            <a:extLst>
              <a:ext uri="{FF2B5EF4-FFF2-40B4-BE49-F238E27FC236}">
                <a16:creationId xmlns:a16="http://schemas.microsoft.com/office/drawing/2014/main" id="{7567BFFF-7501-5F1C-B6D1-B2BA955EAD4F}"/>
              </a:ext>
            </a:extLst>
          </p:cNvPr>
          <p:cNvSpPr/>
          <p:nvPr/>
        </p:nvSpPr>
        <p:spPr>
          <a:xfrm>
            <a:off x="502920" y="3657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800" b="1" dirty="0">
                <a:solidFill>
                  <a:srgbClr val="1F2937"/>
                </a:solidFill>
              </a:rPr>
              <a:t>潛在客戶</a:t>
            </a:r>
            <a:endParaRPr lang="en-US" sz="28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568DFC0-DB49-57D5-E57A-4C51E29059D0}"/>
              </a:ext>
            </a:extLst>
          </p:cNvPr>
          <p:cNvSpPr txBox="1"/>
          <p:nvPr/>
        </p:nvSpPr>
        <p:spPr>
          <a:xfrm>
            <a:off x="502920" y="1156996"/>
            <a:ext cx="1067515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市場上的金融機構，只要想要導入</a:t>
            </a:r>
            <a:r>
              <a:rPr lang="en-US" altLang="zh-TW" dirty="0"/>
              <a:t>AI</a:t>
            </a:r>
            <a:r>
              <a:rPr lang="zh-TW" altLang="en-US" dirty="0"/>
              <a:t>系統，都是我們的最終客戶，包括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en-US" dirty="0"/>
              <a:t>銀行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en-US" dirty="0"/>
              <a:t>證券公司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en-US" dirty="0"/>
              <a:t>保險公司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en-US" dirty="0"/>
              <a:t>其他金融公司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TW" altLang="en-US" dirty="0"/>
              <a:t>協助金融機構導入</a:t>
            </a:r>
            <a:r>
              <a:rPr lang="en-US" altLang="zh-TW" dirty="0"/>
              <a:t>AI</a:t>
            </a:r>
            <a:r>
              <a:rPr lang="zh-TW" altLang="en-US" dirty="0"/>
              <a:t>系統的廠商，將是我們的直接客戶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en-US" altLang="zh-TW" dirty="0"/>
              <a:t>AI</a:t>
            </a:r>
            <a:r>
              <a:rPr lang="zh-TW" altLang="en-US" dirty="0"/>
              <a:t>系統整合</a:t>
            </a:r>
            <a:r>
              <a:rPr lang="en-US" altLang="zh-TW" dirty="0"/>
              <a:t>SI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en-US" dirty="0"/>
              <a:t>顧問公司，如</a:t>
            </a:r>
            <a:r>
              <a:rPr lang="en-US" altLang="zh-TW" dirty="0"/>
              <a:t>PwC</a:t>
            </a:r>
            <a:r>
              <a:rPr lang="zh-TW" altLang="en-US" dirty="0"/>
              <a:t>，</a:t>
            </a:r>
            <a:r>
              <a:rPr lang="en-US" altLang="zh-TW" dirty="0"/>
              <a:t>Deloitte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endParaRPr lang="en-US" altLang="zh-TW" dirty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AI Control Platform</a:t>
            </a:r>
            <a:r>
              <a:rPr lang="zh-TW" altLang="en-US" dirty="0"/>
              <a:t>之中其他模組的供應商，尤其是整個</a:t>
            </a:r>
            <a:r>
              <a:rPr lang="en-US" altLang="zh-TW" dirty="0"/>
              <a:t>Platform</a:t>
            </a:r>
            <a:r>
              <a:rPr lang="zh-TW" altLang="en-US" dirty="0"/>
              <a:t>系統的供應商，也非常有可能成為我們的合作夥伴或客戶</a:t>
            </a:r>
            <a:endParaRPr lang="en-US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zh-TW" dirty="0"/>
              <a:t>AI Governance : </a:t>
            </a:r>
            <a:r>
              <a:rPr lang="en-US" altLang="zh-TW" dirty="0" err="1"/>
              <a:t>Microsoft</a:t>
            </a:r>
            <a:r>
              <a:rPr lang="zh-TW" altLang="zh-TW" dirty="0"/>
              <a:t>、</a:t>
            </a:r>
            <a:r>
              <a:rPr lang="en-US" altLang="zh-TW" dirty="0"/>
              <a:t>IBM</a:t>
            </a:r>
            <a:r>
              <a:rPr lang="zh-TW" altLang="zh-TW" dirty="0"/>
              <a:t>、</a:t>
            </a:r>
            <a:r>
              <a:rPr lang="en-US" altLang="zh-TW" dirty="0"/>
              <a:t>Google</a:t>
            </a:r>
            <a:endParaRPr lang="zh-TW" altLang="zh-TW" dirty="0"/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zh-TW" dirty="0"/>
              <a:t>Model Trust : Fiddler AI、Arize AI、WhyLabs</a:t>
            </a:r>
          </a:p>
          <a:p>
            <a:pPr marL="742950" lvl="1" indent="-285750">
              <a:buFont typeface="Wingdings" panose="05000000000000000000" pitchFamily="2" charset="2"/>
              <a:buChar char="n"/>
            </a:pPr>
            <a:r>
              <a:rPr lang="zh-TW" altLang="zh-TW" dirty="0"/>
              <a:t>AI Output Reliability : Guardrails、RAG Evaluation、LLM-as-a-Judge</a:t>
            </a:r>
          </a:p>
          <a:p>
            <a:pPr lvl="1"/>
            <a:r>
              <a:rPr lang="en-US" altLang="zh-TW" dirty="0"/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57515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TRUST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創辦團隊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由悅鼎國際 (J&amp;C Corporation) 以 15 Lab 孵化的科技新創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82693" y="1887051"/>
            <a:ext cx="2842260" cy="4434840"/>
          </a:xfrm>
          <a:prstGeom prst="roundRect">
            <a:avLst>
              <a:gd name="adj" fmla="val 3103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203960" y="2167128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203960" y="21671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2075" y="3223090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Caleb Liu (劉啟華)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2075" y="3733970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創辦人暨總經理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1488" y="4153959"/>
            <a:ext cx="29083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TRUST / 悅鼎國際 創辦人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 Inc. 供應鏈營運總監 13+ 年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Realwell Electronics 總經理 — 手術機器人 AIO 系統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國立交通大學 科技管理 MBA</a:t>
            </a:r>
          </a:p>
          <a:p>
            <a:pPr>
              <a:lnSpc>
                <a:spcPct val="110000"/>
              </a:lnSpc>
              <a:spcAft>
                <a:spcPts val="700"/>
              </a:spcAft>
              <a:buSzPct val="100000"/>
            </a:pPr>
            <a:r>
              <a:rPr lang="zh-TW" alt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06141" y="1887051"/>
            <a:ext cx="2929890" cy="4434840"/>
          </a:xfrm>
          <a:prstGeom prst="roundRect">
            <a:avLst>
              <a:gd name="adj" fmla="val 3103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271010" y="2177966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271010" y="2177966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07291" y="3262545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Chou Shih-Chung</a:t>
            </a:r>
            <a:r>
              <a:rPr lang="zh-TW" alt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altLang="zh-TW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</a:t>
            </a:r>
            <a:r>
              <a:rPr lang="zh-TW" alt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周世忠</a:t>
            </a:r>
            <a:r>
              <a:rPr lang="en-US" altLang="zh-TW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074670" y="3738880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共同創辦人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90171" y="4160520"/>
            <a:ext cx="3078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產品開發與工程管理 20+ 年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工程副總 — Chenming Electronic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亞太工程總監 (6+ 年) — Ergotron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現經營台北 Vhood Electronic Technology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72874" y="1887051"/>
            <a:ext cx="2749337" cy="4434840"/>
          </a:xfrm>
          <a:prstGeom prst="roundRect">
            <a:avLst>
              <a:gd name="adj" fmla="val 3103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369176" y="2193671"/>
            <a:ext cx="868680" cy="8686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369176" y="216712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80360" y="3273383"/>
            <a:ext cx="326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Andrew Lu (盧元立)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55053" y="3699426"/>
            <a:ext cx="326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共同創辦人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76480" y="4138422"/>
            <a:ext cx="30784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專案管理與商務管理 15+ 年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Mechavision 創辦人 — </a:t>
            </a:r>
          </a:p>
          <a:p>
            <a:pPr>
              <a:lnSpc>
                <a:spcPct val="110000"/>
              </a:lnSpc>
              <a:spcAft>
                <a:spcPts val="700"/>
              </a:spcAft>
              <a:buSzPct val="100000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機器人觸覺感測器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Kawasaki、Denso、Fanuc 共同開發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Garmin 印尼國家經理</a:t>
            </a:r>
            <a:endParaRPr lang="en-US" sz="1000" dirty="0"/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東南亞業務總監 — Aurotek</a:t>
            </a:r>
            <a:endParaRPr lang="en-US" sz="1000" dirty="0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27E1896-8CE3-40B4-B596-92C8BF5B0881}"/>
              </a:ext>
            </a:extLst>
          </p:cNvPr>
          <p:cNvSpPr/>
          <p:nvPr/>
        </p:nvSpPr>
        <p:spPr>
          <a:xfrm>
            <a:off x="9349740" y="1887051"/>
            <a:ext cx="2606040" cy="4434840"/>
          </a:xfrm>
          <a:prstGeom prst="roundRect">
            <a:avLst>
              <a:gd name="adj" fmla="val 4211"/>
            </a:avLst>
          </a:prstGeom>
          <a:solidFill>
            <a:srgbClr val="EAF7F7"/>
          </a:solidFill>
          <a:ln/>
          <a:effectLst>
            <a:outerShdw blurRad="76200" dist="25400" dir="5400000" algn="bl" rotWithShape="0">
              <a:srgbClr val="1D2A32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FF1F8CD-E185-4154-9BCF-652D40B188C5}"/>
              </a:ext>
            </a:extLst>
          </p:cNvPr>
          <p:cNvSpPr/>
          <p:nvPr/>
        </p:nvSpPr>
        <p:spPr>
          <a:xfrm>
            <a:off x="9583209" y="3284221"/>
            <a:ext cx="2331720" cy="373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Lisa Hsu (</a:t>
            </a:r>
            <a:r>
              <a:rPr lang="zh-TW" altLang="en-US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許紓庭</a:t>
            </a:r>
            <a:r>
              <a:rPr lang="en-US" altLang="zh-TW" sz="1600" b="1" dirty="0">
                <a:solidFill>
                  <a:srgbClr val="1D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746842C3-C2D2-46EF-BD5C-0114147C798D}"/>
              </a:ext>
            </a:extLst>
          </p:cNvPr>
          <p:cNvSpPr/>
          <p:nvPr/>
        </p:nvSpPr>
        <p:spPr>
          <a:xfrm>
            <a:off x="9498753" y="369282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共同創辦人</a:t>
            </a:r>
            <a:endParaRPr lang="en-US" sz="105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7D3A2A0E-28E2-413D-9DF5-98776008EAF9}"/>
              </a:ext>
            </a:extLst>
          </p:cNvPr>
          <p:cNvSpPr/>
          <p:nvPr/>
        </p:nvSpPr>
        <p:spPr>
          <a:xfrm>
            <a:off x="9498753" y="4155737"/>
            <a:ext cx="2331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商務開發與法務談判 20+ 年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佳世達 (Qisda) 事業群總經理特助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廣達電腦 客戶經理</a:t>
            </a:r>
          </a:p>
          <a:p>
            <a:pPr marL="127000" indent="-127000">
              <a:lnSpc>
                <a:spcPct val="110000"/>
              </a:lnSpc>
              <a:spcAft>
                <a:spcPts val="700"/>
              </a:spcAft>
              <a:buSzPct val="100000"/>
              <a:buChar char="●"/>
            </a:pPr>
            <a:r>
              <a:rPr lang="en-US" sz="1000" dirty="0">
                <a:solidFill>
                  <a:srgbClr val="4453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汽車與航太 業務經理</a:t>
            </a:r>
            <a:endParaRPr lang="en-US" sz="1000" dirty="0"/>
          </a:p>
        </p:txBody>
      </p:sp>
      <p:sp>
        <p:nvSpPr>
          <p:cNvPr id="29" name="Shape 22">
            <a:extLst>
              <a:ext uri="{FF2B5EF4-FFF2-40B4-BE49-F238E27FC236}">
                <a16:creationId xmlns:a16="http://schemas.microsoft.com/office/drawing/2014/main" id="{DCF49A8C-99E4-4CBC-906F-A52D527E88D0}"/>
              </a:ext>
            </a:extLst>
          </p:cNvPr>
          <p:cNvSpPr/>
          <p:nvPr/>
        </p:nvSpPr>
        <p:spPr>
          <a:xfrm>
            <a:off x="10243185" y="2223686"/>
            <a:ext cx="842857" cy="81212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6B963B5-BE32-494A-96EC-928300EB3AFB}"/>
              </a:ext>
            </a:extLst>
          </p:cNvPr>
          <p:cNvSpPr/>
          <p:nvPr/>
        </p:nvSpPr>
        <p:spPr>
          <a:xfrm>
            <a:off x="10264140" y="2257913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en-US" altLang="zh-TW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8506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產品與市場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2-4 上線現況:技術驗證 / PoC 階段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尚未商業化上線;目前的成果為技術驗證指標。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BB"/>
                </a:solidFill>
              </a:rPr>
              <a:t>18/18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真實 S3 項目全數受控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8036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8A62"/>
                </a:solidFill>
              </a:rPr>
              <a:t>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8036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Fail-Closed 測試漏放率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0749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4DBB"/>
                </a:solidFill>
              </a:rPr>
              <a:t>97.20ms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507492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P99 端到端延遲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26948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6800"/>
                </a:solidFill>
              </a:rPr>
              <a:t>18µs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26948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Token Hook 目標開銷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46404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8A62"/>
                </a:solidFill>
              </a:rPr>
              <a:t>通過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464040" y="222199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67A"/>
                </a:solidFill>
              </a:rPr>
              <a:t>竄改測試 / 僅附加帳本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2926080"/>
            <a:ext cx="10332720" cy="0"/>
          </a:xfrm>
          <a:prstGeom prst="line">
            <a:avLst/>
          </a:prstGeom>
          <a:noFill/>
          <a:ln w="1651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14400" y="324612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</a:rPr>
              <a:t>核心能力均已完成驗證:S3 全面受控、零漏放測試、低延遲路由、Hash Chain 竄改偵測。產品正邁向與首家受監理金融客戶的 PoC 驗證。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營收:尚無 — 預計於 120 天試點完成後取得首筆付費合作。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596128"/>
            <a:ext cx="10332720" cy="640080"/>
          </a:xfrm>
          <a:prstGeom prst="rect">
            <a:avLst/>
          </a:prstGeom>
          <a:solidFill>
            <a:srgbClr val="F2F6FF"/>
          </a:solidFill>
          <a:ln>
            <a:solidFill>
              <a:srgbClr val="F2F6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B667A"/>
                </a:solidFill>
              </a:rPr>
              <a:t>成長指標:GA 前 MAU / 留存率 / MoM / YoY 不適用;目前以驗證 KPI 作為營運指標。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產品與市場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首家受監理金融機構 PoC 的 120 天路線圖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將驗證證據轉化為可供採購決策的標準。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9875520" cy="0"/>
          </a:xfrm>
          <a:prstGeom prst="line">
            <a:avLst/>
          </a:prstGeom>
          <a:noFill/>
          <a:ln w="2540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645920" y="2377440"/>
            <a:ext cx="1280160" cy="502920"/>
          </a:xfrm>
          <a:prstGeom prst="rect">
            <a:avLst/>
          </a:prstGeom>
          <a:solidFill>
            <a:srgbClr val="0B4DBB"/>
          </a:solidFill>
          <a:ln>
            <a:solidFill>
              <a:srgbClr val="0B4DBB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0–30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29000"/>
            <a:ext cx="2743200" cy="173736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回歸測試集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Reason Codes 原因代碼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證據欄位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採購 KPI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166360" y="2377440"/>
            <a:ext cx="1280160" cy="502920"/>
          </a:xfrm>
          <a:prstGeom prst="rect">
            <a:avLst/>
          </a:prstGeom>
          <a:solidFill>
            <a:srgbClr val="0B4DBB"/>
          </a:solidFill>
          <a:ln>
            <a:solidFill>
              <a:srgbClr val="0B4DBB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30–70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434839" y="3429000"/>
            <a:ext cx="2910505" cy="173736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Shadow Mode 並行於既有流程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僅觀測,不介入正式決策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重測 P99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Hash Chain 竄改測試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0" y="2377440"/>
            <a:ext cx="1280160" cy="502920"/>
          </a:xfrm>
          <a:prstGeom prst="rect">
            <a:avLst/>
          </a:prstGeom>
          <a:solidFill>
            <a:srgbClr val="0B4DBB"/>
          </a:solidFill>
          <a:ln>
            <a:solidFill>
              <a:srgbClr val="0B4DBB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70–120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955280" y="3429000"/>
            <a:ext cx="2743200" cy="173736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執行正式 PoC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驗證 Q2 / Q3 路由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驗證 Action Lock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準備付費合作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5840" y="557784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B4DBB"/>
                </a:solidFill>
              </a:rPr>
              <a:t>目標:在受監理金融流程中完成 PoC 驗證,證明即時風險路由、Action Lock 與防竄改稽核能力。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產品與市場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首批客戶:由加速器引導進入受監理市場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不做陌生開發;市場進入路徑以信任引薦與試點包裝為主。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1463040" y="3063240"/>
            <a:ext cx="9418320" cy="0"/>
          </a:xfrm>
          <a:prstGeom prst="line">
            <a:avLst/>
          </a:prstGeom>
          <a:noFill/>
          <a:ln w="20320">
            <a:solidFill>
              <a:srgbClr val="BCD2F5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7315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加速器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信任引薦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347472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2 家金融機構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7472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試點部署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1264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1 家 SI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12648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導入路徑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869680" y="2331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4DBB"/>
                </a:solidFill>
              </a:rPr>
              <a:t>Demo Day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869680" y="340156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B667A"/>
                </a:solidFill>
              </a:rPr>
              <a:t>Data Room + 投資人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14400" y="452628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加速器協助將驗證 KPI 轉化為可加速回應金管會稽核要求、可直接進入採購流程的語言,提供私有 LLM / vLLM 壓測環境,並引薦客戶與投資人。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596128"/>
            <a:ext cx="10332720" cy="512064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相較直接銷售,此路徑能更順暢地觸及受監理買家。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產品與市場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2-5 至 2-8 擴張適配:金融優先,鄰近市場其後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當前重心仍為受監理金融;鄰近 RFS 類別為未來擴張路徑。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製造業 AI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2212848"/>
            <a:ext cx="2468880" cy="315468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半導體、航太等精密產業的長期機會。需求相似:品質控管、可追溯性、可稽核性與防竄改決策。</a:t>
            </a:r>
            <a:endParaRPr lang="en-US" sz="136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國防 / 政府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474720" y="2212848"/>
            <a:ext cx="2468880" cy="315468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未來機會在政府機關與關鍵基礎設施:內容檢查恐暴露機密資料,解碼層風險訊號可避免洩漏底層內容。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635508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On-Chain Banking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355080" y="2212848"/>
            <a:ext cx="2468880" cy="3154680"/>
          </a:xfrm>
          <a:prstGeom prst="rect">
            <a:avLst/>
          </a:prstGeom>
          <a:solidFill>
            <a:srgbClr val="F7FAFF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傳統金融之後的自然優先項:AI 觸發的鏈上交易不可逆,決策必須在執行前被攔截或驗證。</a:t>
            </a:r>
            <a:endParaRPr lang="en-US" sz="1360" dirty="0"/>
          </a:p>
        </p:txBody>
      </p:sp>
      <p:sp>
        <p:nvSpPr>
          <p:cNvPr id="13" name="Text 11"/>
          <p:cNvSpPr/>
          <p:nvPr/>
        </p:nvSpPr>
        <p:spPr>
          <a:xfrm>
            <a:off x="9235440" y="1691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4DBB"/>
                </a:solidFill>
              </a:rPr>
              <a:t>PQC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235440" y="2212848"/>
            <a:ext cx="2468880" cy="3154680"/>
          </a:xfrm>
          <a:prstGeom prst="rect">
            <a:avLst/>
          </a:prstGeom>
          <a:solidFill>
            <a:srgbClr val="FAFAFA"/>
          </a:solidFill>
          <a:ln w="12700">
            <a:solidFill>
              <a:srgbClr val="BCD2F5"/>
            </a:solidFill>
          </a:ln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360" dirty="0">
                <a:solidFill>
                  <a:srgbClr val="1F2937"/>
                </a:solidFill>
              </a:rPr>
              <a:t>不適用。RUNTIME TRUST 並非後量子密碼學新創。</a:t>
            </a:r>
            <a:endParaRPr lang="en-US" sz="1360" dirty="0"/>
          </a:p>
        </p:txBody>
      </p:sp>
      <p:sp>
        <p:nvSpPr>
          <p:cNvPr id="15" name="Text 13"/>
          <p:cNvSpPr/>
          <p:nvPr/>
        </p:nvSpPr>
        <p:spPr>
          <a:xfrm>
            <a:off x="914400" y="5897880"/>
            <a:ext cx="10332720" cy="45720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0B4DBB"/>
                </a:solidFill>
              </a:rPr>
              <a:t>策略主軸:先在金融領域證明產品,再將控制層移植到鄰近的高保障領域。</a:t>
            </a:r>
            <a:endParaRPr lang="en-US" sz="16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2. 產品與市場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On-Chain Banking:為何風險門檻更高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AI 決策可能觸發不可逆的清算、放貸或保管操作。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14400" y="2971800"/>
            <a:ext cx="10241280" cy="0"/>
          </a:xfrm>
          <a:prstGeom prst="line">
            <a:avLst/>
          </a:prstGeom>
          <a:noFill/>
          <a:ln w="25400">
            <a:solidFill>
              <a:srgbClr val="BCD2F5"/>
            </a:solidFill>
            <a:prstDash val="solid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DBB"/>
                </a:solidFill>
              </a:rPr>
              <a:t>AI 決策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風險訊號出現於 Token 解碼層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1188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D8A62"/>
                </a:solidFill>
              </a:rPr>
              <a:t>Runtime Trust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61188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在不可逆執行前攔截 / 標記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3796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DBB"/>
                </a:solidFill>
              </a:rPr>
              <a:t>鏈上交易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37959" y="3429000"/>
            <a:ext cx="2294541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一經執行即定案,無法回復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372600" y="199339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DBB"/>
                </a:solidFill>
              </a:rPr>
              <a:t>稽核證明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72600" y="342900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1F2937"/>
                </a:solidFill>
              </a:rPr>
              <a:t>Hash Chain + WORM 簽章,供第三方驗證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14400" y="5166360"/>
            <a:ext cx="10149840" cy="59436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1F2937"/>
                </a:solidFill>
              </a:rPr>
              <a:t>目標延伸:發行穩定幣或代幣化存款,或讓 AI Agent 執行鏈上清算、放貸、保管操作的銀行與金融科技公司。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14400" y="5897880"/>
            <a:ext cx="10149840" cy="45720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0B4DBB"/>
                </a:solidFill>
              </a:rPr>
              <a:t>核心論點:正因交易無法回復,必須能向第三方證明 AI 觸發的決策未被竄改。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3. 現況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3-1 為什麼是現在創業?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悅鼎國際 (J&amp;C) 為打造自有事業而成立,並將隨需求加速把 RUNTIME TRUST 分拆獨立。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4DBB"/>
                </a:solidFill>
              </a:rPr>
              <a:t>2024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194560" y="173736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志同道合的夥伴組成現有團隊,啟動聚焦 AI 產業的創業計畫。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463040" y="2514600"/>
            <a:ext cx="0" cy="2240280"/>
          </a:xfrm>
          <a:prstGeom prst="line">
            <a:avLst/>
          </a:prstGeom>
          <a:noFill/>
          <a:ln w="2540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22960" y="28346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8A62"/>
                </a:solidFill>
              </a:rPr>
              <a:t>現在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94560" y="281635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技術開發過程中發現:隨 AI 應用普及,金融機構對 AI 系統監督的需求快速成長。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3913632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96800"/>
                </a:solidFill>
              </a:rPr>
              <a:t>下一步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194560" y="3913632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F2937"/>
                </a:solidFill>
              </a:rPr>
              <a:t>正是聚焦團隊、隨 AI Control Platform 類別擴張,將 RUNTIME TRUST 推向市場的最佳時機。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5577840"/>
            <a:ext cx="10058400" cy="548640"/>
          </a:xfrm>
          <a:prstGeom prst="rect">
            <a:avLst/>
          </a:prstGeom>
          <a:solidFill>
            <a:srgbClr val="EAF2FF"/>
          </a:solidFill>
          <a:ln>
            <a:solidFill>
              <a:srgbClr val="EAF2FF">
                <a:alpha val="0"/>
              </a:srgbClr>
            </a:solidFill>
          </a:ln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內部準備就緒,外部受監理 AI 監督需求急迫——兩者交會,即是最佳時點。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502920" y="137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67A"/>
                </a:solidFill>
              </a:rPr>
              <a:t>3. 現況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6565392"/>
            <a:ext cx="11155680" cy="0"/>
          </a:xfrm>
          <a:prstGeom prst="line">
            <a:avLst/>
          </a:prstGeom>
          <a:noFill/>
          <a:ln w="1016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02920" y="7772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</a:rPr>
              <a:t>3-2 我們如何定義創辦人的成功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0352" y="1225296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B667A"/>
                </a:solidFill>
              </a:rPr>
              <a:t>成功不是估值或出場,而是市場採用、客戶信任,以及靠自己的努力打造一家優秀的公司。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2937"/>
                </a:solidFill>
              </a:rPr>
              <a:t>成功的定義: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148840"/>
            <a:ext cx="9966960" cy="2377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900" dirty="0">
                <a:solidFill>
                  <a:srgbClr val="1F2937"/>
                </a:solidFill>
              </a:rPr>
              <a:t>打造屬於自己的公司與技術。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看見自己開發的產品被市場採用。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靠自身努力,把一家小而美的公司經營好。</a:t>
            </a:r>
            <a:endParaRPr lang="en-US" sz="1900" dirty="0"/>
          </a:p>
          <a:p>
            <a:r>
              <a:rPr lang="en-US" sz="1900" dirty="0">
                <a:solidFill>
                  <a:srgbClr val="1F2937"/>
                </a:solidFill>
              </a:rPr>
              <a:t>讓銀行法遵主管或 CISO 依賴 RUNTIME TRUST,攔下其他工具會漏掉的風險。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4983480"/>
            <a:ext cx="10241280" cy="0"/>
          </a:xfrm>
          <a:prstGeom prst="line">
            <a:avLst/>
          </a:prstGeom>
          <a:noFill/>
          <a:ln w="16510">
            <a:solidFill>
              <a:srgbClr val="BCD2F5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868680" y="5303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B667A"/>
                </a:solidFill>
              </a:rPr>
              <a:t>成功的標誌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566928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B4DBB"/>
                </a:solidFill>
              </a:rPr>
              <a:t>受監理客戶在正式環境中實際依賴 RUNTIME TRUST,阻止高風險 AI 決策漏放。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2202</Words>
  <Application>Microsoft Macintosh PowerPoint</Application>
  <PresentationFormat>寬螢幕</PresentationFormat>
  <Paragraphs>418</Paragraphs>
  <Slides>18</Slides>
  <Notes>11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4" baseType="lpstr">
      <vt:lpstr>SF Pro Display, Arial</vt:lpstr>
      <vt:lpstr>Arial</vt:lpstr>
      <vt:lpstr>Calibri</vt:lpstr>
      <vt:lpstr>Cambria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RUNTIME TRUST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RUNTIME TRUST Product, Market &amp; Status Summary</dc:title>
  <dc:subject>RUNTIME TRUST AppWorks Application Summary</dc:subject>
  <dc:creator>OpenAI</dc:creator>
  <cp:lastModifiedBy>Tommy Liu</cp:lastModifiedBy>
  <cp:revision>10</cp:revision>
  <dcterms:created xsi:type="dcterms:W3CDTF">2026-07-17T01:02:21Z</dcterms:created>
  <dcterms:modified xsi:type="dcterms:W3CDTF">2026-07-18T13:03:49Z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ff6d80-3782-4df6-bf6c-659f84558040_Enabled">
    <vt:lpwstr>true</vt:lpwstr>
  </property>
  <property fmtid="{D5CDD505-2E9C-101B-9397-08002B2CF9AE}" pid="3" name="MSIP_Label_f3ff6d80-3782-4df6-bf6c-659f84558040_SetDate">
    <vt:lpwstr>2026-07-18T04:23:00Z</vt:lpwstr>
  </property>
  <property fmtid="{D5CDD505-2E9C-101B-9397-08002B2CF9AE}" pid="4" name="MSIP_Label_f3ff6d80-3782-4df6-bf6c-659f84558040_Method">
    <vt:lpwstr>Standard</vt:lpwstr>
  </property>
  <property fmtid="{D5CDD505-2E9C-101B-9397-08002B2CF9AE}" pid="5" name="MSIP_Label_f3ff6d80-3782-4df6-bf6c-659f84558040_Name">
    <vt:lpwstr>f3ff6d80-3782-4df6-bf6c-659f84558040</vt:lpwstr>
  </property>
  <property fmtid="{D5CDD505-2E9C-101B-9397-08002B2CF9AE}" pid="6" name="MSIP_Label_f3ff6d80-3782-4df6-bf6c-659f84558040_SiteId">
    <vt:lpwstr>38d0d425-ba52-4c0a-a03e-2a65c8e82e2d</vt:lpwstr>
  </property>
  <property fmtid="{D5CDD505-2E9C-101B-9397-08002B2CF9AE}" pid="7" name="MSIP_Label_f3ff6d80-3782-4df6-bf6c-659f84558040_ActionId">
    <vt:lpwstr>0c1fad48-a09b-48b6-b7ce-8ac045d1f756</vt:lpwstr>
  </property>
  <property fmtid="{D5CDD505-2E9C-101B-9397-08002B2CF9AE}" pid="8" name="MSIP_Label_f3ff6d80-3782-4df6-bf6c-659f84558040_ContentBits">
    <vt:lpwstr>0</vt:lpwstr>
  </property>
  <property fmtid="{D5CDD505-2E9C-101B-9397-08002B2CF9AE}" pid="9" name="MSIP_Label_f3ff6d80-3782-4df6-bf6c-659f84558040_Tag">
    <vt:lpwstr>10, 3, 0, 1</vt:lpwstr>
  </property>
</Properties>
</file>